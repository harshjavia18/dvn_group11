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5" r:id="rId2"/>
    <p:sldId id="256" r:id="rId3"/>
    <p:sldId id="257" r:id="rId4"/>
    <p:sldId id="258" r:id="rId5"/>
    <p:sldId id="259" r:id="rId6"/>
    <p:sldId id="260" r:id="rId7"/>
    <p:sldId id="261" r:id="rId8"/>
    <p:sldId id="262" r:id="rId9"/>
    <p:sldId id="263" r:id="rId10"/>
    <p:sldId id="264"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varScale="1">
        <p:scale>
          <a:sx n="159" d="100"/>
          <a:sy n="159" d="100"/>
        </p:scale>
        <p:origin x="18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012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(~20 sec)
"Good afternoon, Minister. Today we'd like you to put on a specific hat -- the NSW Minister for Better Regulation and Fair Trading. We spent the past few weeks pulling apart 303,000 rental bond records -- data your own department publishes. We found a pattern. We're calling it: The Bond Penalty."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HOOK (~30 sec)
"Imagine two renters in NSW. Both signed the same standard lease. Both went through the same Fair Trading process when they left. Renter One is in Greenacre -- she loses 37% of her bond. Renter Two is in Mosman -- he loses 13%. Same Residential Tenancies Act. Same forms. Same state. The only difference is the postcode. That gap is what we're calling the bond penalty. And the question it raises is the only one that matters: why?"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EVIDENCE (~40 sec)
"We matched 303,000 bond records to ABS SEIFA disadvantage scores across 636 postcodes. The SEIFA scale goes 1 to 10 -- 1 is most disadvantaged, 10 is most affluent. And the pattern is completely clean. Every single decile, bond loss falls. No noise. No outliers. The gradient is perfectly monotonic. Not a little different -- three times higher for the most disadvantaged postcodes compared to the most affluent. Same statute. Same forms. Same state. In any other policy context, a pattern this consistent would trigger an immediate review."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THE PLACES (~35 sec)
"Let's put real names to this. These eight postcodes are what we call squeezed. They sit in the lower SEIFA deciles -- residents already face lower incomes and fewer economic resources -- but they also carry rents at or above $620 a week, the NSW median. There is no cheaper option nearby. High rent. High bond loss. Low income. These are not abstract postcodes. Auburn, Burwood, Greenacre, Chester Hill. About 200,000 people live here. These are the people who take the hit."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THE CYCLE (~30 sec)
"Here's what makes this more than a one-time inconvenience. The median NSW tenancy lasts 564 days -- under two years. 30% of tenancies don't even make it past a year. And only 11% of renters ever reach five years -- stability is rare. So every time someone in these postcodes moves, the clock resets. They lose another slice of bond. An owner-occupier never takes this hit. A renter takes it again, and again, and again."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PROTOTYPE (~40 sec)
"This is our live Tableau dashboard. [Open it now.] Five coordinated visuals. The bond-loss gradient is the first thing you see. The map shows you exactly which postcodes are worst affected. The zero-choice suburbs list names 23 specific areas. The scatterplot shows all 636 postcodes at once -- rent against disadvantage -- and the squeezed cluster is obvious. And the essential worker curve is interactive: drag the budget slider to $480 a week -- a nurse salary -- and watch in real time as most of NSW becomes unaffordable. This is not a static report. It is a targeting tool. If you want to know where to intervene first, this dashboard answers that."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ACTIONS (~45 sec)
"So what do we actually want? Three things, all within the Minister's existing mandate. Right now: mandate itemised deductions. If a landlord withholds bond, they need photographic evidence and a line-by-line breakdown. No evidence means no deduction. This is an Order-in-Council -- it does not need new legislation. This year: release the data. Fair Trading already collects it. Publishing bond outcomes by postcode quarterly is a reporting directive. It costs nothing. And as a lasting reform: a tenant-favour presumption in the squeezed postcodes. In NCAT disputes in SEIFA decile 1-3 areas, the burden of proof shifts to landlords. Pilot it in the 8 named suburbs first. Measurable within six months."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CLOSE (~20 sec, then Q&amp;A)
"The data tells us exactly which postcodes need intervention, how big the gap is, and who pays the price. What is missing is the will to act. $15.6 million in bond is recoverable every year if the gap narrows. 2.1 million residents are in scope. 194 postcodes are already identified. Minister, the evidence is on your desk. The next move belongs to your office."
Q&amp;A PREPARATION (1.5 minutes):
Q1: "Why use SEIFA? Isn't it an indirect measure?"
SEIFA is the ABS standard for geographic equity analysis -- used by every government department. We're not claiming it causes bond loss; we're observing it predicts it with remarkable consistency across all 10 deciles and 636 postcodes.
Q2: "Couldn't this just be worse properties getting more damage?"
If it were property damage, we'd expect noise and outliers. The gradient is perfectly monotonic. That's not what random damage looks like. The 3x gap is too large and too consistent to explain through property condition.
Q3: "NCAT already handles this -- why isn't it working?"
NCAT only helps if tenants dispute. Disadvantaged renters are far less likely to challenge decisions -- due to time pressure, legal unfamiliarity, or fear of reference checks. The system is technically available but practically inaccessible.
Q4: "What exactly should the Minister do first thing Monday?"
Day 1: direct Fair Trading Commissioner to validate the finding from internal records. Week 1: sign the Order-in-Council on itemised deductions. Month 1: publish the first postcode-level bond outcome dataset to the Open Data Portal.
Q5: "What are the limitations of the data?"
We observe outcomes -- how much was returned -- but not the stated reason for deductions. That's part of the policy argument: mandatory itemisation would fill exactly that gap.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THANK YOU
Present this slide during Q&amp;A. Keep the dashboard link visible so the audience can access it directly.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public.tableau.com/app/profile/md.abtab.karim.kabbo/viz/TheRentersTaxNSW/Dashboard1?publish=yes"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80F986-B646-38EF-24AB-8B710B4C5461}"/>
              </a:ext>
            </a:extLst>
          </p:cNvPr>
          <p:cNvSpPr txBox="1"/>
          <p:nvPr/>
        </p:nvSpPr>
        <p:spPr>
          <a:xfrm>
            <a:off x="665747" y="625642"/>
            <a:ext cx="8013032" cy="2923877"/>
          </a:xfrm>
          <a:prstGeom prst="rect">
            <a:avLst/>
          </a:prstGeom>
          <a:noFill/>
        </p:spPr>
        <p:txBody>
          <a:bodyPr wrap="square" rtlCol="0">
            <a:spAutoFit/>
          </a:bodyPr>
          <a:lstStyle/>
          <a:p>
            <a:r>
              <a:rPr lang="en-US" sz="4000" dirty="0"/>
              <a:t>Group – 11 </a:t>
            </a:r>
          </a:p>
          <a:p>
            <a:r>
              <a:rPr lang="en-IN" dirty="0"/>
              <a:t>Aaron Reji</a:t>
            </a:r>
          </a:p>
          <a:p>
            <a:r>
              <a:rPr lang="en-IN" dirty="0"/>
              <a:t>Aditya </a:t>
            </a:r>
            <a:r>
              <a:rPr lang="en-IN" dirty="0" err="1"/>
              <a:t>DamodaraA</a:t>
            </a:r>
            <a:endParaRPr lang="en-IN" dirty="0"/>
          </a:p>
          <a:p>
            <a:r>
              <a:rPr lang="en-IN" dirty="0"/>
              <a:t>Harsh Javia</a:t>
            </a:r>
          </a:p>
          <a:p>
            <a:r>
              <a:rPr lang="en-IN" dirty="0"/>
              <a:t>Intesar Hasan Nahin</a:t>
            </a:r>
          </a:p>
          <a:p>
            <a:r>
              <a:rPr lang="en-IN" dirty="0"/>
              <a:t>Md </a:t>
            </a:r>
            <a:r>
              <a:rPr lang="en-IN" dirty="0" err="1"/>
              <a:t>Abtab</a:t>
            </a:r>
            <a:r>
              <a:rPr lang="en-IN" dirty="0"/>
              <a:t> Karim Kabbo</a:t>
            </a:r>
          </a:p>
          <a:p>
            <a:r>
              <a:rPr lang="en-IN" dirty="0"/>
              <a:t>Nishaanth Govindaraj</a:t>
            </a:r>
          </a:p>
          <a:p>
            <a:r>
              <a:rPr lang="en-IN" dirty="0"/>
              <a:t>Vandana Rajagopal</a:t>
            </a:r>
          </a:p>
          <a:p>
            <a:endParaRPr lang="en-US" dirty="0"/>
          </a:p>
        </p:txBody>
      </p:sp>
    </p:spTree>
    <p:extLst>
      <p:ext uri="{BB962C8B-B14F-4D97-AF65-F5344CB8AC3E}">
        <p14:creationId xmlns:p14="http://schemas.microsoft.com/office/powerpoint/2010/main" val="363761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2B3A52"/>
        </a:solidFill>
        <a:effectLst/>
      </p:bgPr>
    </p:bg>
    <p:spTree>
      <p:nvGrpSpPr>
        <p:cNvPr id="1" name=""/>
        <p:cNvGrpSpPr/>
        <p:nvPr/>
      </p:nvGrpSpPr>
      <p:grpSpPr>
        <a:xfrm>
          <a:off x="0" y="0"/>
          <a:ext cx="0" cy="0"/>
          <a:chOff x="0" y="0"/>
          <a:chExt cx="0" cy="0"/>
        </a:xfrm>
      </p:grpSpPr>
      <p:sp>
        <p:nvSpPr>
          <p:cNvPr id="2" name="Shape 0"/>
          <p:cNvSpPr/>
          <p:nvPr/>
        </p:nvSpPr>
        <p:spPr>
          <a:xfrm>
            <a:off x="457200" y="457200"/>
            <a:ext cx="64008" cy="4206240"/>
          </a:xfrm>
          <a:prstGeom prst="rect">
            <a:avLst/>
          </a:prstGeom>
          <a:solidFill>
            <a:srgbClr val="B5342A"/>
          </a:solidFill>
          <a:ln w="12700">
            <a:solidFill>
              <a:srgbClr val="B5342A"/>
            </a:solidFill>
            <a:prstDash val="solid"/>
          </a:ln>
        </p:spPr>
        <p:txBody>
          <a:bodyPr/>
          <a:lstStyle/>
          <a:p>
            <a:endParaRPr lang="en-AU"/>
          </a:p>
        </p:txBody>
      </p:sp>
      <p:sp>
        <p:nvSpPr>
          <p:cNvPr id="3" name="Shape 1"/>
          <p:cNvSpPr/>
          <p:nvPr/>
        </p:nvSpPr>
        <p:spPr>
          <a:xfrm>
            <a:off x="685800" y="411480"/>
            <a:ext cx="7315200" cy="384048"/>
          </a:xfrm>
          <a:prstGeom prst="rect">
            <a:avLst/>
          </a:prstGeom>
          <a:solidFill>
            <a:srgbClr val="B5342A"/>
          </a:solidFill>
          <a:ln w="12700">
            <a:solidFill>
              <a:srgbClr val="B5342A"/>
            </a:solidFill>
            <a:prstDash val="solid"/>
          </a:ln>
        </p:spPr>
        <p:txBody>
          <a:bodyPr/>
          <a:lstStyle/>
          <a:p>
            <a:endParaRPr lang="en-AU"/>
          </a:p>
        </p:txBody>
      </p:sp>
      <p:sp>
        <p:nvSpPr>
          <p:cNvPr id="4" name="Text 2"/>
          <p:cNvSpPr/>
          <p:nvPr/>
        </p:nvSpPr>
        <p:spPr>
          <a:xfrm>
            <a:off x="685800" y="411480"/>
            <a:ext cx="7315200" cy="384048"/>
          </a:xfrm>
          <a:prstGeom prst="rect">
            <a:avLst/>
          </a:prstGeom>
          <a:noFill/>
          <a:ln/>
        </p:spPr>
        <p:txBody>
          <a:bodyPr wrap="square" lIns="0" tIns="127000" rIns="12700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Stakeholder Hat  --  NSW Minister for Better Regulation and Fair Trading.     Group </a:t>
            </a:r>
            <a:endParaRPr lang="en-US" sz="1100" dirty="0"/>
          </a:p>
        </p:txBody>
      </p:sp>
      <p:sp>
        <p:nvSpPr>
          <p:cNvPr id="5" name="Text 3"/>
          <p:cNvSpPr/>
          <p:nvPr/>
        </p:nvSpPr>
        <p:spPr>
          <a:xfrm>
            <a:off x="685800" y="960120"/>
            <a:ext cx="7955280" cy="96012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The Bond Penalty</a:t>
            </a:r>
            <a:endParaRPr lang="en-US" sz="4400" dirty="0"/>
          </a:p>
        </p:txBody>
      </p:sp>
      <p:sp>
        <p:nvSpPr>
          <p:cNvPr id="6" name="Text 4"/>
          <p:cNvSpPr/>
          <p:nvPr/>
        </p:nvSpPr>
        <p:spPr>
          <a:xfrm>
            <a:off x="685800" y="1965960"/>
            <a:ext cx="7498080" cy="502920"/>
          </a:xfrm>
          <a:prstGeom prst="rect">
            <a:avLst/>
          </a:prstGeom>
          <a:noFill/>
          <a:ln/>
        </p:spPr>
        <p:txBody>
          <a:bodyPr wrap="square" rtlCol="0" anchor="ctr"/>
          <a:lstStyle/>
          <a:p>
            <a:pPr marL="0" indent="0">
              <a:buNone/>
            </a:pPr>
            <a:r>
              <a:rPr lang="en-US" sz="1500" i="1" dirty="0">
                <a:solidFill>
                  <a:srgbClr val="CADCEF"/>
                </a:solidFill>
                <a:latin typeface="Calibri" pitchFamily="34" charset="0"/>
                <a:ea typeface="Calibri" pitchFamily="34" charset="-122"/>
                <a:cs typeface="Calibri" pitchFamily="34" charset="-120"/>
              </a:rPr>
              <a:t>A data-driven investigation into postcode-level inequality in NSW's rental bond system.</a:t>
            </a:r>
            <a:endParaRPr lang="en-US" sz="1500" dirty="0"/>
          </a:p>
        </p:txBody>
      </p:sp>
      <p:sp>
        <p:nvSpPr>
          <p:cNvPr id="7" name="Text 5"/>
          <p:cNvSpPr/>
          <p:nvPr/>
        </p:nvSpPr>
        <p:spPr>
          <a:xfrm>
            <a:off x="685800" y="2651760"/>
            <a:ext cx="7772400" cy="274320"/>
          </a:xfrm>
          <a:prstGeom prst="rect">
            <a:avLst/>
          </a:prstGeom>
          <a:noFill/>
          <a:ln/>
        </p:spPr>
        <p:txBody>
          <a:bodyPr wrap="square" rtlCol="0" anchor="ctr"/>
          <a:lstStyle/>
          <a:p>
            <a:pPr marL="0" indent="0">
              <a:buNone/>
            </a:pPr>
            <a:r>
              <a:rPr lang="en-US" sz="1100" dirty="0">
                <a:solidFill>
                  <a:srgbClr val="7A9BB8"/>
                </a:solidFill>
                <a:latin typeface="Calibri" pitchFamily="34" charset="0"/>
                <a:ea typeface="Calibri" pitchFamily="34" charset="-122"/>
                <a:cs typeface="Calibri" pitchFamily="34" charset="-120"/>
              </a:rPr>
              <a:t>NSW Fair Trading bond records (2025)  |  ABS SEIFA 2021  |  636 postcodes  |  303,111 lodgements</a:t>
            </a:r>
            <a:endParaRPr lang="en-US" sz="1100" dirty="0"/>
          </a:p>
        </p:txBody>
      </p:sp>
      <p:sp>
        <p:nvSpPr>
          <p:cNvPr id="8" name="Text 6"/>
          <p:cNvSpPr/>
          <p:nvPr/>
        </p:nvSpPr>
        <p:spPr>
          <a:xfrm>
            <a:off x="685800" y="3017520"/>
            <a:ext cx="7772400" cy="274320"/>
          </a:xfrm>
          <a:prstGeom prst="rect">
            <a:avLst/>
          </a:prstGeom>
          <a:noFill/>
          <a:ln/>
        </p:spPr>
        <p:txBody>
          <a:bodyPr wrap="square" rtlCol="0" anchor="ctr"/>
          <a:lstStyle/>
          <a:p>
            <a:pPr marL="0" indent="0">
              <a:buNone/>
            </a:pPr>
            <a:r>
              <a:rPr lang="en-US" sz="1100" dirty="0">
                <a:solidFill>
                  <a:srgbClr val="4A6380"/>
                </a:solidFill>
                <a:latin typeface="Calibri" pitchFamily="34" charset="0"/>
                <a:ea typeface="Calibri" pitchFamily="34" charset="-122"/>
                <a:cs typeface="Calibri" pitchFamily="34" charset="-120"/>
              </a:rPr>
              <a:t>DVN Group  |  Assignment 3, Part 2  |  May 2026</a:t>
            </a:r>
            <a:endParaRPr lang="en-US" sz="1100" dirty="0"/>
          </a:p>
        </p:txBody>
      </p:sp>
      <p:sp>
        <p:nvSpPr>
          <p:cNvPr id="9" name="Shape 7"/>
          <p:cNvSpPr/>
          <p:nvPr/>
        </p:nvSpPr>
        <p:spPr>
          <a:xfrm>
            <a:off x="685800" y="3520440"/>
            <a:ext cx="1828800" cy="1325880"/>
          </a:xfrm>
          <a:prstGeom prst="rect">
            <a:avLst/>
          </a:prstGeom>
          <a:solidFill>
            <a:srgbClr val="3D5068"/>
          </a:solidFill>
          <a:ln w="12700">
            <a:solidFill>
              <a:srgbClr val="3D5068"/>
            </a:solidFill>
            <a:prstDash val="solid"/>
          </a:ln>
        </p:spPr>
        <p:txBody>
          <a:bodyPr/>
          <a:lstStyle/>
          <a:p>
            <a:endParaRPr lang="en-AU"/>
          </a:p>
        </p:txBody>
      </p:sp>
      <p:sp>
        <p:nvSpPr>
          <p:cNvPr id="10" name="Text 8"/>
          <p:cNvSpPr/>
          <p:nvPr/>
        </p:nvSpPr>
        <p:spPr>
          <a:xfrm>
            <a:off x="685800" y="3566160"/>
            <a:ext cx="1828800" cy="68580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303,111</a:t>
            </a:r>
            <a:endParaRPr lang="en-US" sz="2800" dirty="0"/>
          </a:p>
        </p:txBody>
      </p:sp>
      <p:sp>
        <p:nvSpPr>
          <p:cNvPr id="11" name="Text 9"/>
          <p:cNvSpPr/>
          <p:nvPr/>
        </p:nvSpPr>
        <p:spPr>
          <a:xfrm>
            <a:off x="685800" y="4224528"/>
            <a:ext cx="1828800" cy="411480"/>
          </a:xfrm>
          <a:prstGeom prst="rect">
            <a:avLst/>
          </a:prstGeom>
          <a:noFill/>
          <a:ln/>
        </p:spPr>
        <p:txBody>
          <a:bodyPr wrap="square" rtlCol="0" anchor="ctr"/>
          <a:lstStyle/>
          <a:p>
            <a:pPr marL="0" indent="0" algn="ctr">
              <a:buNone/>
            </a:pPr>
            <a:r>
              <a:rPr lang="en-US" sz="1000" dirty="0">
                <a:solidFill>
                  <a:srgbClr val="7A9BB8"/>
                </a:solidFill>
                <a:latin typeface="Calibri" pitchFamily="34" charset="0"/>
                <a:ea typeface="Calibri" pitchFamily="34" charset="-122"/>
                <a:cs typeface="Calibri" pitchFamily="34" charset="-120"/>
              </a:rPr>
              <a:t>bond lodgements</a:t>
            </a:r>
            <a:endParaRPr lang="en-US" sz="1000" dirty="0"/>
          </a:p>
        </p:txBody>
      </p:sp>
      <p:sp>
        <p:nvSpPr>
          <p:cNvPr id="12" name="Shape 10"/>
          <p:cNvSpPr/>
          <p:nvPr/>
        </p:nvSpPr>
        <p:spPr>
          <a:xfrm>
            <a:off x="2743200" y="3520440"/>
            <a:ext cx="1828800" cy="1325880"/>
          </a:xfrm>
          <a:prstGeom prst="rect">
            <a:avLst/>
          </a:prstGeom>
          <a:solidFill>
            <a:srgbClr val="3D5068"/>
          </a:solidFill>
          <a:ln w="12700">
            <a:solidFill>
              <a:srgbClr val="3D5068"/>
            </a:solidFill>
            <a:prstDash val="solid"/>
          </a:ln>
        </p:spPr>
        <p:txBody>
          <a:bodyPr/>
          <a:lstStyle/>
          <a:p>
            <a:endParaRPr lang="en-AU"/>
          </a:p>
        </p:txBody>
      </p:sp>
      <p:sp>
        <p:nvSpPr>
          <p:cNvPr id="13" name="Text 11"/>
          <p:cNvSpPr/>
          <p:nvPr/>
        </p:nvSpPr>
        <p:spPr>
          <a:xfrm>
            <a:off x="2743200" y="3566160"/>
            <a:ext cx="1828800" cy="68580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310,428</a:t>
            </a:r>
            <a:endParaRPr lang="en-US" sz="2800" dirty="0"/>
          </a:p>
        </p:txBody>
      </p:sp>
      <p:sp>
        <p:nvSpPr>
          <p:cNvPr id="14" name="Text 12"/>
          <p:cNvSpPr/>
          <p:nvPr/>
        </p:nvSpPr>
        <p:spPr>
          <a:xfrm>
            <a:off x="2743200" y="4224528"/>
            <a:ext cx="1828800" cy="411480"/>
          </a:xfrm>
          <a:prstGeom prst="rect">
            <a:avLst/>
          </a:prstGeom>
          <a:noFill/>
          <a:ln/>
        </p:spPr>
        <p:txBody>
          <a:bodyPr wrap="square" rtlCol="0" anchor="ctr"/>
          <a:lstStyle/>
          <a:p>
            <a:pPr marL="0" indent="0" algn="ctr">
              <a:buNone/>
            </a:pPr>
            <a:r>
              <a:rPr lang="en-US" sz="1000" dirty="0">
                <a:solidFill>
                  <a:srgbClr val="7A9BB8"/>
                </a:solidFill>
                <a:latin typeface="Calibri" pitchFamily="34" charset="0"/>
                <a:ea typeface="Calibri" pitchFamily="34" charset="-122"/>
                <a:cs typeface="Calibri" pitchFamily="34" charset="-120"/>
              </a:rPr>
              <a:t>refund records</a:t>
            </a:r>
            <a:endParaRPr lang="en-US" sz="1000" dirty="0"/>
          </a:p>
        </p:txBody>
      </p:sp>
      <p:sp>
        <p:nvSpPr>
          <p:cNvPr id="15" name="Shape 13"/>
          <p:cNvSpPr/>
          <p:nvPr/>
        </p:nvSpPr>
        <p:spPr>
          <a:xfrm>
            <a:off x="4800600" y="3520440"/>
            <a:ext cx="1828800" cy="1325880"/>
          </a:xfrm>
          <a:prstGeom prst="rect">
            <a:avLst/>
          </a:prstGeom>
          <a:solidFill>
            <a:srgbClr val="3D5068"/>
          </a:solidFill>
          <a:ln w="12700">
            <a:solidFill>
              <a:srgbClr val="3D5068"/>
            </a:solidFill>
            <a:prstDash val="solid"/>
          </a:ln>
        </p:spPr>
        <p:txBody>
          <a:bodyPr/>
          <a:lstStyle/>
          <a:p>
            <a:endParaRPr lang="en-AU"/>
          </a:p>
        </p:txBody>
      </p:sp>
      <p:sp>
        <p:nvSpPr>
          <p:cNvPr id="16" name="Text 14"/>
          <p:cNvSpPr/>
          <p:nvPr/>
        </p:nvSpPr>
        <p:spPr>
          <a:xfrm>
            <a:off x="4800600" y="3566160"/>
            <a:ext cx="1828800" cy="68580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636</a:t>
            </a:r>
            <a:endParaRPr lang="en-US" sz="2800" dirty="0"/>
          </a:p>
        </p:txBody>
      </p:sp>
      <p:sp>
        <p:nvSpPr>
          <p:cNvPr id="17" name="Text 15"/>
          <p:cNvSpPr/>
          <p:nvPr/>
        </p:nvSpPr>
        <p:spPr>
          <a:xfrm>
            <a:off x="4800600" y="4224528"/>
            <a:ext cx="1828800" cy="411480"/>
          </a:xfrm>
          <a:prstGeom prst="rect">
            <a:avLst/>
          </a:prstGeom>
          <a:noFill/>
          <a:ln/>
        </p:spPr>
        <p:txBody>
          <a:bodyPr wrap="square" rtlCol="0" anchor="ctr"/>
          <a:lstStyle/>
          <a:p>
            <a:pPr marL="0" indent="0" algn="ctr">
              <a:buNone/>
            </a:pPr>
            <a:r>
              <a:rPr lang="en-US" sz="1000" dirty="0">
                <a:solidFill>
                  <a:srgbClr val="7A9BB8"/>
                </a:solidFill>
                <a:latin typeface="Calibri" pitchFamily="34" charset="0"/>
                <a:ea typeface="Calibri" pitchFamily="34" charset="-122"/>
                <a:cs typeface="Calibri" pitchFamily="34" charset="-120"/>
              </a:rPr>
              <a:t>NSW postcodes</a:t>
            </a:r>
            <a:endParaRPr lang="en-US" sz="1000" dirty="0"/>
          </a:p>
        </p:txBody>
      </p:sp>
      <p:sp>
        <p:nvSpPr>
          <p:cNvPr id="18" name="Shape 16"/>
          <p:cNvSpPr/>
          <p:nvPr/>
        </p:nvSpPr>
        <p:spPr>
          <a:xfrm>
            <a:off x="6858000" y="3520440"/>
            <a:ext cx="1828800" cy="1325880"/>
          </a:xfrm>
          <a:prstGeom prst="rect">
            <a:avLst/>
          </a:prstGeom>
          <a:solidFill>
            <a:srgbClr val="3D5068"/>
          </a:solidFill>
          <a:ln w="12700">
            <a:solidFill>
              <a:srgbClr val="3D5068"/>
            </a:solidFill>
            <a:prstDash val="solid"/>
          </a:ln>
        </p:spPr>
        <p:txBody>
          <a:bodyPr/>
          <a:lstStyle/>
          <a:p>
            <a:endParaRPr lang="en-AU"/>
          </a:p>
        </p:txBody>
      </p:sp>
      <p:sp>
        <p:nvSpPr>
          <p:cNvPr id="19" name="Text 17"/>
          <p:cNvSpPr/>
          <p:nvPr/>
        </p:nvSpPr>
        <p:spPr>
          <a:xfrm>
            <a:off x="6858000" y="3566160"/>
            <a:ext cx="1828800" cy="68580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1–10</a:t>
            </a:r>
            <a:endParaRPr lang="en-US" sz="2800" dirty="0"/>
          </a:p>
        </p:txBody>
      </p:sp>
      <p:sp>
        <p:nvSpPr>
          <p:cNvPr id="20" name="Text 18"/>
          <p:cNvSpPr/>
          <p:nvPr/>
        </p:nvSpPr>
        <p:spPr>
          <a:xfrm>
            <a:off x="6858000" y="4224528"/>
            <a:ext cx="1828800" cy="411480"/>
          </a:xfrm>
          <a:prstGeom prst="rect">
            <a:avLst/>
          </a:prstGeom>
          <a:noFill/>
          <a:ln/>
        </p:spPr>
        <p:txBody>
          <a:bodyPr wrap="square" rtlCol="0" anchor="ctr"/>
          <a:lstStyle/>
          <a:p>
            <a:pPr marL="0" indent="0" algn="ctr">
              <a:buNone/>
            </a:pPr>
            <a:r>
              <a:rPr lang="en-US" sz="1000" dirty="0">
                <a:solidFill>
                  <a:srgbClr val="7A9BB8"/>
                </a:solidFill>
                <a:latin typeface="Calibri" pitchFamily="34" charset="0"/>
                <a:ea typeface="Calibri" pitchFamily="34" charset="-122"/>
                <a:cs typeface="Calibri" pitchFamily="34" charset="-120"/>
              </a:rPr>
              <a:t>SEIFA deciles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5F2"/>
        </a:solidFill>
        <a:effectLst/>
      </p:bgPr>
    </p:bg>
    <p:spTree>
      <p:nvGrpSpPr>
        <p:cNvPr id="1" name=""/>
        <p:cNvGrpSpPr/>
        <p:nvPr/>
      </p:nvGrpSpPr>
      <p:grpSpPr>
        <a:xfrm>
          <a:off x="0" y="0"/>
          <a:ext cx="0" cy="0"/>
          <a:chOff x="0" y="0"/>
          <a:chExt cx="0" cy="0"/>
        </a:xfrm>
      </p:grpSpPr>
      <p:sp>
        <p:nvSpPr>
          <p:cNvPr id="2" name="Text 0"/>
          <p:cNvSpPr/>
          <p:nvPr/>
        </p:nvSpPr>
        <p:spPr>
          <a:xfrm>
            <a:off x="502920" y="347472"/>
            <a:ext cx="3657600" cy="256032"/>
          </a:xfrm>
          <a:prstGeom prst="rect">
            <a:avLst/>
          </a:prstGeom>
          <a:noFill/>
          <a:ln/>
        </p:spPr>
        <p:txBody>
          <a:bodyPr wrap="square" rtlCol="0" anchor="ctr"/>
          <a:lstStyle/>
          <a:p>
            <a:pPr marL="0" indent="0">
              <a:buNone/>
            </a:pPr>
            <a:r>
              <a:rPr lang="en-US" sz="1000" b="1" kern="0" spc="300" dirty="0">
                <a:solidFill>
                  <a:srgbClr val="8A8680"/>
                </a:solidFill>
                <a:latin typeface="Calibri" pitchFamily="34" charset="0"/>
                <a:ea typeface="Calibri" pitchFamily="34" charset="-122"/>
                <a:cs typeface="Calibri" pitchFamily="34" charset="-120"/>
              </a:rPr>
              <a:t>01  |  THE ANOMALY</a:t>
            </a:r>
            <a:endParaRPr lang="en-US" sz="1000" dirty="0"/>
          </a:p>
        </p:txBody>
      </p:sp>
      <p:sp>
        <p:nvSpPr>
          <p:cNvPr id="3" name="Shape 1"/>
          <p:cNvSpPr/>
          <p:nvPr/>
        </p:nvSpPr>
        <p:spPr>
          <a:xfrm>
            <a:off x="502920" y="731520"/>
            <a:ext cx="3794760" cy="4206240"/>
          </a:xfrm>
          <a:prstGeom prst="rect">
            <a:avLst/>
          </a:prstGeom>
          <a:solidFill>
            <a:srgbClr val="F5E8E7"/>
          </a:solidFill>
          <a:ln w="12700">
            <a:solidFill>
              <a:srgbClr val="DEDAD6"/>
            </a:solidFill>
            <a:prstDash val="solid"/>
          </a:ln>
        </p:spPr>
        <p:txBody>
          <a:bodyPr/>
          <a:lstStyle/>
          <a:p>
            <a:endParaRPr lang="en-AU"/>
          </a:p>
        </p:txBody>
      </p:sp>
      <p:sp>
        <p:nvSpPr>
          <p:cNvPr id="4" name="Shape 2"/>
          <p:cNvSpPr/>
          <p:nvPr/>
        </p:nvSpPr>
        <p:spPr>
          <a:xfrm>
            <a:off x="502920" y="731520"/>
            <a:ext cx="3794760" cy="411480"/>
          </a:xfrm>
          <a:prstGeom prst="rect">
            <a:avLst/>
          </a:prstGeom>
          <a:solidFill>
            <a:srgbClr val="B5342A"/>
          </a:solidFill>
          <a:ln w="12700">
            <a:solidFill>
              <a:srgbClr val="B5342A"/>
            </a:solidFill>
            <a:prstDash val="solid"/>
          </a:ln>
        </p:spPr>
        <p:txBody>
          <a:bodyPr/>
          <a:lstStyle/>
          <a:p>
            <a:endParaRPr lang="en-AU"/>
          </a:p>
        </p:txBody>
      </p:sp>
      <p:sp>
        <p:nvSpPr>
          <p:cNvPr id="5" name="Text 3"/>
          <p:cNvSpPr/>
          <p:nvPr/>
        </p:nvSpPr>
        <p:spPr>
          <a:xfrm>
            <a:off x="502920" y="731520"/>
            <a:ext cx="37947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Decile 1  --  Most Disadvantaged</a:t>
            </a:r>
            <a:endParaRPr lang="en-US" sz="1100" dirty="0"/>
          </a:p>
        </p:txBody>
      </p:sp>
      <p:sp>
        <p:nvSpPr>
          <p:cNvPr id="6" name="Text 4"/>
          <p:cNvSpPr/>
          <p:nvPr/>
        </p:nvSpPr>
        <p:spPr>
          <a:xfrm>
            <a:off x="502920" y="1234440"/>
            <a:ext cx="3794760" cy="1371600"/>
          </a:xfrm>
          <a:prstGeom prst="rect">
            <a:avLst/>
          </a:prstGeom>
          <a:noFill/>
          <a:ln/>
        </p:spPr>
        <p:txBody>
          <a:bodyPr wrap="square" rtlCol="0" anchor="ctr"/>
          <a:lstStyle/>
          <a:p>
            <a:pPr marL="0" indent="0" algn="ctr">
              <a:buNone/>
            </a:pPr>
            <a:r>
              <a:rPr lang="en-US" sz="9600" b="1" dirty="0">
                <a:solidFill>
                  <a:srgbClr val="B5342A"/>
                </a:solidFill>
                <a:latin typeface="Georgia" pitchFamily="34" charset="0"/>
                <a:ea typeface="Georgia" pitchFamily="34" charset="-122"/>
                <a:cs typeface="Georgia" pitchFamily="34" charset="-120"/>
              </a:rPr>
              <a:t>37%</a:t>
            </a:r>
            <a:endParaRPr lang="en-US" sz="9600" dirty="0"/>
          </a:p>
        </p:txBody>
      </p:sp>
      <p:sp>
        <p:nvSpPr>
          <p:cNvPr id="7" name="Text 5"/>
          <p:cNvSpPr/>
          <p:nvPr/>
        </p:nvSpPr>
        <p:spPr>
          <a:xfrm>
            <a:off x="594360" y="2606040"/>
            <a:ext cx="3611880" cy="347472"/>
          </a:xfrm>
          <a:prstGeom prst="rect">
            <a:avLst/>
          </a:prstGeom>
          <a:noFill/>
          <a:ln/>
        </p:spPr>
        <p:txBody>
          <a:bodyPr wrap="square" rtlCol="0" anchor="ctr"/>
          <a:lstStyle/>
          <a:p>
            <a:pPr marL="0" indent="0" algn="ctr">
              <a:buNone/>
            </a:pPr>
            <a:r>
              <a:rPr lang="en-US" sz="1300" dirty="0">
                <a:solidFill>
                  <a:srgbClr val="3D5068"/>
                </a:solidFill>
                <a:latin typeface="Calibri" pitchFamily="34" charset="0"/>
                <a:ea typeface="Calibri" pitchFamily="34" charset="-122"/>
                <a:cs typeface="Calibri" pitchFamily="34" charset="-120"/>
              </a:rPr>
              <a:t>of their bond lost to the landlord</a:t>
            </a:r>
            <a:endParaRPr lang="en-US" sz="1300" dirty="0"/>
          </a:p>
        </p:txBody>
      </p:sp>
      <p:sp>
        <p:nvSpPr>
          <p:cNvPr id="8" name="Text 6"/>
          <p:cNvSpPr/>
          <p:nvPr/>
        </p:nvSpPr>
        <p:spPr>
          <a:xfrm>
            <a:off x="594360" y="3063240"/>
            <a:ext cx="3611880" cy="347472"/>
          </a:xfrm>
          <a:prstGeom prst="rect">
            <a:avLst/>
          </a:prstGeom>
          <a:noFill/>
          <a:ln/>
        </p:spPr>
        <p:txBody>
          <a:bodyPr wrap="square" rtlCol="0" anchor="ctr"/>
          <a:lstStyle/>
          <a:p>
            <a:pPr marL="0" indent="0" algn="ctr">
              <a:buNone/>
            </a:pPr>
            <a:r>
              <a:rPr lang="en-US" sz="1300" i="1" dirty="0">
                <a:solidFill>
                  <a:srgbClr val="3D5068"/>
                </a:solidFill>
                <a:latin typeface="Calibri" pitchFamily="34" charset="0"/>
                <a:ea typeface="Calibri" pitchFamily="34" charset="-122"/>
                <a:cs typeface="Calibri" pitchFamily="34" charset="-120"/>
              </a:rPr>
              <a:t>A renter in Mount Druitt or Greenacre.</a:t>
            </a:r>
            <a:endParaRPr lang="en-US" sz="1300" dirty="0"/>
          </a:p>
        </p:txBody>
      </p:sp>
      <p:sp>
        <p:nvSpPr>
          <p:cNvPr id="9" name="Text 7"/>
          <p:cNvSpPr/>
          <p:nvPr/>
        </p:nvSpPr>
        <p:spPr>
          <a:xfrm>
            <a:off x="4297680" y="2377440"/>
            <a:ext cx="594360" cy="457200"/>
          </a:xfrm>
          <a:prstGeom prst="rect">
            <a:avLst/>
          </a:prstGeom>
          <a:noFill/>
          <a:ln/>
        </p:spPr>
        <p:txBody>
          <a:bodyPr wrap="square" rtlCol="0" anchor="ctr"/>
          <a:lstStyle/>
          <a:p>
            <a:pPr marL="0" indent="0" algn="ctr">
              <a:buNone/>
            </a:pPr>
            <a:r>
              <a:rPr lang="en-US" sz="2000" b="1" i="1" dirty="0">
                <a:solidFill>
                  <a:srgbClr val="8A8680"/>
                </a:solidFill>
                <a:latin typeface="Georgia" pitchFamily="34" charset="0"/>
                <a:ea typeface="Georgia" pitchFamily="34" charset="-122"/>
                <a:cs typeface="Georgia" pitchFamily="34" charset="-120"/>
              </a:rPr>
              <a:t>vs</a:t>
            </a:r>
            <a:endParaRPr lang="en-US" sz="2000" dirty="0"/>
          </a:p>
        </p:txBody>
      </p:sp>
      <p:sp>
        <p:nvSpPr>
          <p:cNvPr id="10" name="Shape 8"/>
          <p:cNvSpPr/>
          <p:nvPr/>
        </p:nvSpPr>
        <p:spPr>
          <a:xfrm>
            <a:off x="4892040" y="731520"/>
            <a:ext cx="3794760" cy="4206240"/>
          </a:xfrm>
          <a:prstGeom prst="rect">
            <a:avLst/>
          </a:prstGeom>
          <a:solidFill>
            <a:srgbClr val="EBF0F6"/>
          </a:solidFill>
          <a:ln w="12700">
            <a:solidFill>
              <a:srgbClr val="DEDAD6"/>
            </a:solidFill>
            <a:prstDash val="solid"/>
          </a:ln>
        </p:spPr>
        <p:txBody>
          <a:bodyPr/>
          <a:lstStyle/>
          <a:p>
            <a:endParaRPr lang="en-AU"/>
          </a:p>
        </p:txBody>
      </p:sp>
      <p:sp>
        <p:nvSpPr>
          <p:cNvPr id="11" name="Shape 9"/>
          <p:cNvSpPr/>
          <p:nvPr/>
        </p:nvSpPr>
        <p:spPr>
          <a:xfrm>
            <a:off x="4892040" y="731520"/>
            <a:ext cx="3794760" cy="411480"/>
          </a:xfrm>
          <a:prstGeom prst="rect">
            <a:avLst/>
          </a:prstGeom>
          <a:solidFill>
            <a:srgbClr val="3D5068"/>
          </a:solidFill>
          <a:ln w="12700">
            <a:solidFill>
              <a:srgbClr val="3D5068"/>
            </a:solidFill>
            <a:prstDash val="solid"/>
          </a:ln>
        </p:spPr>
        <p:txBody>
          <a:bodyPr/>
          <a:lstStyle/>
          <a:p>
            <a:endParaRPr lang="en-AU"/>
          </a:p>
        </p:txBody>
      </p:sp>
      <p:sp>
        <p:nvSpPr>
          <p:cNvPr id="12" name="Text 10"/>
          <p:cNvSpPr/>
          <p:nvPr/>
        </p:nvSpPr>
        <p:spPr>
          <a:xfrm>
            <a:off x="4892040" y="731520"/>
            <a:ext cx="37947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Decile 10  --  Most Affluent</a:t>
            </a:r>
            <a:endParaRPr lang="en-US" sz="1100" dirty="0"/>
          </a:p>
        </p:txBody>
      </p:sp>
      <p:sp>
        <p:nvSpPr>
          <p:cNvPr id="13" name="Text 11"/>
          <p:cNvSpPr/>
          <p:nvPr/>
        </p:nvSpPr>
        <p:spPr>
          <a:xfrm>
            <a:off x="4892040" y="1234440"/>
            <a:ext cx="3794760" cy="1371600"/>
          </a:xfrm>
          <a:prstGeom prst="rect">
            <a:avLst/>
          </a:prstGeom>
          <a:noFill/>
          <a:ln/>
        </p:spPr>
        <p:txBody>
          <a:bodyPr wrap="square" rtlCol="0" anchor="ctr"/>
          <a:lstStyle/>
          <a:p>
            <a:pPr marL="0" indent="0" algn="ctr">
              <a:buNone/>
            </a:pPr>
            <a:r>
              <a:rPr lang="en-US" sz="9600" b="1" dirty="0">
                <a:solidFill>
                  <a:srgbClr val="3D5068"/>
                </a:solidFill>
                <a:latin typeface="Georgia" pitchFamily="34" charset="0"/>
                <a:ea typeface="Georgia" pitchFamily="34" charset="-122"/>
                <a:cs typeface="Georgia" pitchFamily="34" charset="-120"/>
              </a:rPr>
              <a:t>13%</a:t>
            </a:r>
            <a:endParaRPr lang="en-US" sz="9600" dirty="0"/>
          </a:p>
        </p:txBody>
      </p:sp>
      <p:sp>
        <p:nvSpPr>
          <p:cNvPr id="14" name="Text 12"/>
          <p:cNvSpPr/>
          <p:nvPr/>
        </p:nvSpPr>
        <p:spPr>
          <a:xfrm>
            <a:off x="4983480" y="2606040"/>
            <a:ext cx="3611880" cy="347472"/>
          </a:xfrm>
          <a:prstGeom prst="rect">
            <a:avLst/>
          </a:prstGeom>
          <a:noFill/>
          <a:ln/>
        </p:spPr>
        <p:txBody>
          <a:bodyPr wrap="square" rtlCol="0" anchor="ctr"/>
          <a:lstStyle/>
          <a:p>
            <a:pPr marL="0" indent="0" algn="ctr">
              <a:buNone/>
            </a:pPr>
            <a:r>
              <a:rPr lang="en-US" sz="1300" dirty="0">
                <a:solidFill>
                  <a:srgbClr val="3D5068"/>
                </a:solidFill>
                <a:latin typeface="Calibri" pitchFamily="34" charset="0"/>
                <a:ea typeface="Calibri" pitchFamily="34" charset="-122"/>
                <a:cs typeface="Calibri" pitchFamily="34" charset="-120"/>
              </a:rPr>
              <a:t>of their bond lost to the landlord</a:t>
            </a:r>
            <a:endParaRPr lang="en-US" sz="1300" dirty="0"/>
          </a:p>
        </p:txBody>
      </p:sp>
      <p:sp>
        <p:nvSpPr>
          <p:cNvPr id="15" name="Text 13"/>
          <p:cNvSpPr/>
          <p:nvPr/>
        </p:nvSpPr>
        <p:spPr>
          <a:xfrm>
            <a:off x="4983480" y="3063240"/>
            <a:ext cx="3611880" cy="347472"/>
          </a:xfrm>
          <a:prstGeom prst="rect">
            <a:avLst/>
          </a:prstGeom>
          <a:noFill/>
          <a:ln/>
        </p:spPr>
        <p:txBody>
          <a:bodyPr wrap="square" rtlCol="0" anchor="ctr"/>
          <a:lstStyle/>
          <a:p>
            <a:pPr marL="0" indent="0" algn="ctr">
              <a:buNone/>
            </a:pPr>
            <a:r>
              <a:rPr lang="en-US" sz="1300" i="1" dirty="0">
                <a:solidFill>
                  <a:srgbClr val="3D5068"/>
                </a:solidFill>
                <a:latin typeface="Calibri" pitchFamily="34" charset="0"/>
                <a:ea typeface="Calibri" pitchFamily="34" charset="-122"/>
                <a:cs typeface="Calibri" pitchFamily="34" charset="-120"/>
              </a:rPr>
              <a:t>A renter in Mosman or Killara.</a:t>
            </a:r>
            <a:endParaRPr lang="en-US" sz="1300" dirty="0"/>
          </a:p>
        </p:txBody>
      </p:sp>
      <p:sp>
        <p:nvSpPr>
          <p:cNvPr id="16" name="Shape 14"/>
          <p:cNvSpPr/>
          <p:nvPr/>
        </p:nvSpPr>
        <p:spPr>
          <a:xfrm>
            <a:off x="502920" y="4206240"/>
            <a:ext cx="8138160" cy="658368"/>
          </a:xfrm>
          <a:prstGeom prst="rect">
            <a:avLst/>
          </a:prstGeom>
          <a:solidFill>
            <a:srgbClr val="2B3A52"/>
          </a:solidFill>
          <a:ln w="12700">
            <a:solidFill>
              <a:srgbClr val="2B3A52"/>
            </a:solidFill>
            <a:prstDash val="solid"/>
          </a:ln>
        </p:spPr>
        <p:txBody>
          <a:bodyPr/>
          <a:lstStyle/>
          <a:p>
            <a:endParaRPr lang="en-AU"/>
          </a:p>
        </p:txBody>
      </p:sp>
      <p:sp>
        <p:nvSpPr>
          <p:cNvPr id="17" name="Text 15"/>
          <p:cNvSpPr/>
          <p:nvPr/>
        </p:nvSpPr>
        <p:spPr>
          <a:xfrm>
            <a:off x="685800" y="4224528"/>
            <a:ext cx="7772400" cy="621792"/>
          </a:xfrm>
          <a:prstGeom prst="rect">
            <a:avLst/>
          </a:prstGeom>
          <a:noFill/>
          <a:ln/>
        </p:spPr>
        <p:txBody>
          <a:bodyPr wrap="square" rtlCol="0" anchor="ctr"/>
          <a:lstStyle/>
          <a:p>
            <a:pPr marL="0" indent="0" algn="l">
              <a:buNone/>
            </a:pPr>
            <a:r>
              <a:rPr lang="en-US" sz="1300" dirty="0">
                <a:solidFill>
                  <a:srgbClr val="CADCEF"/>
                </a:solidFill>
                <a:latin typeface="Calibri" pitchFamily="34" charset="0"/>
                <a:ea typeface="Calibri" pitchFamily="34" charset="-122"/>
                <a:cs typeface="Calibri" pitchFamily="34" charset="-120"/>
              </a:rPr>
              <a:t>Same statute.  Same forms.  Same Fair Trading process.  The only variable is the postcode.  The question that follows is the only one that matters:  Why?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5F2"/>
        </a:solidFill>
        <a:effectLst/>
      </p:bgPr>
    </p:bg>
    <p:spTree>
      <p:nvGrpSpPr>
        <p:cNvPr id="1" name=""/>
        <p:cNvGrpSpPr/>
        <p:nvPr/>
      </p:nvGrpSpPr>
      <p:grpSpPr>
        <a:xfrm>
          <a:off x="0" y="0"/>
          <a:ext cx="0" cy="0"/>
          <a:chOff x="0" y="0"/>
          <a:chExt cx="0" cy="0"/>
        </a:xfrm>
      </p:grpSpPr>
      <p:sp>
        <p:nvSpPr>
          <p:cNvPr id="2" name="Text 0"/>
          <p:cNvSpPr/>
          <p:nvPr/>
        </p:nvSpPr>
        <p:spPr>
          <a:xfrm>
            <a:off x="502920" y="347472"/>
            <a:ext cx="3657600" cy="256032"/>
          </a:xfrm>
          <a:prstGeom prst="rect">
            <a:avLst/>
          </a:prstGeom>
          <a:noFill/>
          <a:ln/>
        </p:spPr>
        <p:txBody>
          <a:bodyPr wrap="square" rtlCol="0" anchor="ctr"/>
          <a:lstStyle/>
          <a:p>
            <a:pPr marL="0" indent="0">
              <a:buNone/>
            </a:pPr>
            <a:r>
              <a:rPr lang="en-US" sz="1000" b="1" kern="0" spc="300" dirty="0">
                <a:solidFill>
                  <a:srgbClr val="8A8680"/>
                </a:solidFill>
                <a:latin typeface="Calibri" pitchFamily="34" charset="0"/>
                <a:ea typeface="Calibri" pitchFamily="34" charset="-122"/>
                <a:cs typeface="Calibri" pitchFamily="34" charset="-120"/>
              </a:rPr>
              <a:t>02  |  THE EVIDENCE</a:t>
            </a:r>
            <a:endParaRPr lang="en-US" sz="1000" dirty="0"/>
          </a:p>
        </p:txBody>
      </p:sp>
      <p:sp>
        <p:nvSpPr>
          <p:cNvPr id="3" name="Text 1"/>
          <p:cNvSpPr/>
          <p:nvPr/>
        </p:nvSpPr>
        <p:spPr>
          <a:xfrm>
            <a:off x="502920" y="658368"/>
            <a:ext cx="8229600" cy="594360"/>
          </a:xfrm>
          <a:prstGeom prst="rect">
            <a:avLst/>
          </a:prstGeom>
          <a:noFill/>
          <a:ln/>
        </p:spPr>
        <p:txBody>
          <a:bodyPr wrap="square" rtlCol="0" anchor="ctr"/>
          <a:lstStyle/>
          <a:p>
            <a:pPr marL="0" indent="0">
              <a:buNone/>
            </a:pPr>
            <a:r>
              <a:rPr lang="en-US" sz="1800" b="1" dirty="0">
                <a:solidFill>
                  <a:srgbClr val="2B3A52"/>
                </a:solidFill>
                <a:latin typeface="Georgia" pitchFamily="34" charset="0"/>
                <a:ea typeface="Georgia" pitchFamily="34" charset="-122"/>
                <a:cs typeface="Georgia" pitchFamily="34" charset="-120"/>
              </a:rPr>
              <a:t>Every step up the SEIFA ladder, renters lose less bond. The gradient is monotonic.</a:t>
            </a:r>
            <a:endParaRPr lang="en-US" sz="1800" dirty="0"/>
          </a:p>
        </p:txBody>
      </p:sp>
      <p:sp>
        <p:nvSpPr>
          <p:cNvPr id="5" name="Shape 2"/>
          <p:cNvSpPr/>
          <p:nvPr/>
        </p:nvSpPr>
        <p:spPr>
          <a:xfrm>
            <a:off x="6949440" y="1371600"/>
            <a:ext cx="1828800" cy="3429000"/>
          </a:xfrm>
          <a:prstGeom prst="rect">
            <a:avLst/>
          </a:prstGeom>
          <a:solidFill>
            <a:srgbClr val="F5E8E7"/>
          </a:solidFill>
          <a:ln w="12700">
            <a:solidFill>
              <a:srgbClr val="DEDAD6"/>
            </a:solidFill>
            <a:prstDash val="solid"/>
          </a:ln>
        </p:spPr>
        <p:txBody>
          <a:bodyPr/>
          <a:lstStyle/>
          <a:p>
            <a:endParaRPr lang="en-AU"/>
          </a:p>
        </p:txBody>
      </p:sp>
      <p:sp>
        <p:nvSpPr>
          <p:cNvPr id="6" name="Text 3"/>
          <p:cNvSpPr/>
          <p:nvPr/>
        </p:nvSpPr>
        <p:spPr>
          <a:xfrm>
            <a:off x="6949440" y="1828800"/>
            <a:ext cx="1828800" cy="1097280"/>
          </a:xfrm>
          <a:prstGeom prst="rect">
            <a:avLst/>
          </a:prstGeom>
          <a:noFill/>
          <a:ln/>
        </p:spPr>
        <p:txBody>
          <a:bodyPr wrap="square" rtlCol="0" anchor="ctr"/>
          <a:lstStyle/>
          <a:p>
            <a:pPr marL="0" indent="0" algn="ctr">
              <a:buNone/>
            </a:pPr>
            <a:r>
              <a:rPr lang="en-US" sz="7200" b="1" dirty="0">
                <a:solidFill>
                  <a:srgbClr val="B5342A"/>
                </a:solidFill>
                <a:latin typeface="Georgia" pitchFamily="34" charset="0"/>
                <a:ea typeface="Georgia" pitchFamily="34" charset="-122"/>
                <a:cs typeface="Georgia" pitchFamily="34" charset="-120"/>
              </a:rPr>
              <a:t>3x</a:t>
            </a:r>
            <a:endParaRPr lang="en-US" sz="7200" dirty="0"/>
          </a:p>
        </p:txBody>
      </p:sp>
      <p:sp>
        <p:nvSpPr>
          <p:cNvPr id="7" name="Text 4"/>
          <p:cNvSpPr/>
          <p:nvPr/>
        </p:nvSpPr>
        <p:spPr>
          <a:xfrm>
            <a:off x="6949440" y="2880360"/>
            <a:ext cx="1828800" cy="384048"/>
          </a:xfrm>
          <a:prstGeom prst="rect">
            <a:avLst/>
          </a:prstGeom>
          <a:noFill/>
          <a:ln/>
        </p:spPr>
        <p:txBody>
          <a:bodyPr wrap="square" rtlCol="0" anchor="ctr"/>
          <a:lstStyle/>
          <a:p>
            <a:pPr marL="0" indent="0" algn="ctr">
              <a:buNone/>
            </a:pPr>
            <a:r>
              <a:rPr lang="en-US" sz="1300" b="1" dirty="0">
                <a:solidFill>
                  <a:srgbClr val="2B3A52"/>
                </a:solidFill>
                <a:latin typeface="Calibri" pitchFamily="34" charset="0"/>
                <a:ea typeface="Calibri" pitchFamily="34" charset="-122"/>
                <a:cs typeface="Calibri" pitchFamily="34" charset="-120"/>
              </a:rPr>
              <a:t>the bond-loss rate.</a:t>
            </a:r>
            <a:endParaRPr lang="en-US" sz="1300" dirty="0"/>
          </a:p>
        </p:txBody>
      </p:sp>
      <p:sp>
        <p:nvSpPr>
          <p:cNvPr id="8" name="Text 5"/>
          <p:cNvSpPr/>
          <p:nvPr/>
        </p:nvSpPr>
        <p:spPr>
          <a:xfrm>
            <a:off x="6949440" y="3383280"/>
            <a:ext cx="1828800" cy="1143000"/>
          </a:xfrm>
          <a:prstGeom prst="rect">
            <a:avLst/>
          </a:prstGeom>
          <a:noFill/>
          <a:ln/>
        </p:spPr>
        <p:txBody>
          <a:bodyPr wrap="square" rtlCol="0" anchor="ctr"/>
          <a:lstStyle/>
          <a:p>
            <a:pPr marL="0" indent="0" algn="ctr">
              <a:lnSpc>
                <a:spcPct val="130000"/>
              </a:lnSpc>
              <a:buNone/>
            </a:pPr>
            <a:r>
              <a:rPr lang="en-US" sz="1100" dirty="0">
                <a:solidFill>
                  <a:srgbClr val="3D5068"/>
                </a:solidFill>
                <a:latin typeface="Calibri" pitchFamily="34" charset="0"/>
                <a:ea typeface="Calibri" pitchFamily="34" charset="-122"/>
                <a:cs typeface="Calibri" pitchFamily="34" charset="-120"/>
              </a:rPr>
              <a:t>There is no noise.</a:t>
            </a:r>
            <a:endParaRPr lang="en-US" sz="1100" dirty="0"/>
          </a:p>
          <a:p>
            <a:pPr marL="0" indent="0" algn="ctr">
              <a:lnSpc>
                <a:spcPct val="130000"/>
              </a:lnSpc>
              <a:buNone/>
            </a:pPr>
            <a:r>
              <a:rPr lang="en-US" sz="1100" dirty="0">
                <a:solidFill>
                  <a:srgbClr val="3D5068"/>
                </a:solidFill>
                <a:latin typeface="Calibri" pitchFamily="34" charset="0"/>
                <a:ea typeface="Calibri" pitchFamily="34" charset="-122"/>
                <a:cs typeface="Calibri" pitchFamily="34" charset="-120"/>
              </a:rPr>
              <a:t>There is no caveat.</a:t>
            </a:r>
            <a:endParaRPr lang="en-US" sz="1100" dirty="0"/>
          </a:p>
          <a:p>
            <a:pPr marL="0" indent="0" algn="ctr">
              <a:lnSpc>
                <a:spcPct val="130000"/>
              </a:lnSpc>
              <a:buNone/>
            </a:pPr>
            <a:r>
              <a:rPr lang="en-US" sz="1100" dirty="0">
                <a:solidFill>
                  <a:srgbClr val="3D5068"/>
                </a:solidFill>
                <a:latin typeface="Calibri" pitchFamily="34" charset="0"/>
                <a:ea typeface="Calibri" pitchFamily="34" charset="-122"/>
                <a:cs typeface="Calibri" pitchFamily="34" charset="-120"/>
              </a:rPr>
              <a:t>The variable is</a:t>
            </a:r>
            <a:endParaRPr lang="en-US" sz="1100" dirty="0"/>
          </a:p>
          <a:p>
            <a:pPr marL="0" indent="0" algn="ctr">
              <a:lnSpc>
                <a:spcPct val="130000"/>
              </a:lnSpc>
              <a:buNone/>
            </a:pPr>
            <a:r>
              <a:rPr lang="en-US" sz="1100" dirty="0">
                <a:solidFill>
                  <a:srgbClr val="3D5068"/>
                </a:solidFill>
                <a:latin typeface="Calibri" pitchFamily="34" charset="0"/>
                <a:ea typeface="Calibri" pitchFamily="34" charset="-122"/>
                <a:cs typeface="Calibri" pitchFamily="34" charset="-120"/>
              </a:rPr>
              <a:t>the postcode.</a:t>
            </a:r>
            <a:endParaRPr lang="en-US" sz="1100" dirty="0"/>
          </a:p>
        </p:txBody>
      </p:sp>
      <p:sp>
        <p:nvSpPr>
          <p:cNvPr id="9" name="Text 6"/>
          <p:cNvSpPr/>
          <p:nvPr/>
        </p:nvSpPr>
        <p:spPr>
          <a:xfrm>
            <a:off x="502920" y="4828032"/>
            <a:ext cx="8229600" cy="219456"/>
          </a:xfrm>
          <a:prstGeom prst="rect">
            <a:avLst/>
          </a:prstGeom>
          <a:noFill/>
          <a:ln/>
        </p:spPr>
        <p:txBody>
          <a:bodyPr wrap="square" rtlCol="0" anchor="ctr"/>
          <a:lstStyle/>
          <a:p>
            <a:pPr marL="0" indent="0">
              <a:buNone/>
            </a:pPr>
            <a:r>
              <a:rPr lang="en-US" sz="900" i="1" dirty="0">
                <a:solidFill>
                  <a:srgbClr val="8A8680"/>
                </a:solidFill>
                <a:latin typeface="Calibri" pitchFamily="34" charset="0"/>
                <a:ea typeface="Calibri" pitchFamily="34" charset="-122"/>
                <a:cs typeface="Calibri" pitchFamily="34" charset="-120"/>
              </a:rPr>
              <a:t>Source: NSW Fair Trading bond records 2025  |  ABS SEIFA 2021  |  303,111 lodgements across 636 postcodes</a:t>
            </a:r>
            <a:endParaRPr lang="en-US" sz="900" dirty="0"/>
          </a:p>
        </p:txBody>
      </p:sp>
      <p:pic>
        <p:nvPicPr>
          <p:cNvPr id="10" name="image2.png">
            <a:extLst>
              <a:ext uri="{FF2B5EF4-FFF2-40B4-BE49-F238E27FC236}">
                <a16:creationId xmlns:a16="http://schemas.microsoft.com/office/drawing/2014/main" id="{0376B92E-4FDE-6A0F-2B89-B6EBCD784DDF}"/>
              </a:ext>
            </a:extLst>
          </p:cNvPr>
          <p:cNvPicPr/>
          <p:nvPr/>
        </p:nvPicPr>
        <p:blipFill>
          <a:blip r:embed="rId3"/>
          <a:srcRect/>
          <a:stretch>
            <a:fillRect/>
          </a:stretch>
        </p:blipFill>
        <p:spPr>
          <a:xfrm>
            <a:off x="550178" y="1371600"/>
            <a:ext cx="6171570" cy="3429000"/>
          </a:xfrm>
          <a:prstGeom prst="rect">
            <a:avLst/>
          </a:prstGeo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5F2"/>
        </a:solidFill>
        <a:effectLst/>
      </p:bgPr>
    </p:bg>
    <p:spTree>
      <p:nvGrpSpPr>
        <p:cNvPr id="1" name=""/>
        <p:cNvGrpSpPr/>
        <p:nvPr/>
      </p:nvGrpSpPr>
      <p:grpSpPr>
        <a:xfrm>
          <a:off x="0" y="0"/>
          <a:ext cx="0" cy="0"/>
          <a:chOff x="0" y="0"/>
          <a:chExt cx="0" cy="0"/>
        </a:xfrm>
      </p:grpSpPr>
      <p:sp>
        <p:nvSpPr>
          <p:cNvPr id="2" name="Text 0"/>
          <p:cNvSpPr/>
          <p:nvPr/>
        </p:nvSpPr>
        <p:spPr>
          <a:xfrm>
            <a:off x="502920" y="347472"/>
            <a:ext cx="3657600" cy="256032"/>
          </a:xfrm>
          <a:prstGeom prst="rect">
            <a:avLst/>
          </a:prstGeom>
          <a:noFill/>
          <a:ln/>
        </p:spPr>
        <p:txBody>
          <a:bodyPr wrap="square" rtlCol="0" anchor="ctr"/>
          <a:lstStyle/>
          <a:p>
            <a:pPr marL="0" indent="0">
              <a:buNone/>
            </a:pPr>
            <a:r>
              <a:rPr lang="en-US" sz="1000" b="1" kern="0" spc="300" dirty="0">
                <a:solidFill>
                  <a:srgbClr val="8A8680"/>
                </a:solidFill>
                <a:latin typeface="Calibri" pitchFamily="34" charset="0"/>
                <a:ea typeface="Calibri" pitchFamily="34" charset="-122"/>
                <a:cs typeface="Calibri" pitchFamily="34" charset="-120"/>
              </a:rPr>
              <a:t>03  |  THE PLACES</a:t>
            </a:r>
            <a:endParaRPr lang="en-US" sz="1000" dirty="0"/>
          </a:p>
        </p:txBody>
      </p:sp>
      <p:sp>
        <p:nvSpPr>
          <p:cNvPr id="3" name="Text 1"/>
          <p:cNvSpPr/>
          <p:nvPr/>
        </p:nvSpPr>
        <p:spPr>
          <a:xfrm>
            <a:off x="502920" y="658368"/>
            <a:ext cx="8046720" cy="594360"/>
          </a:xfrm>
          <a:prstGeom prst="rect">
            <a:avLst/>
          </a:prstGeom>
          <a:noFill/>
          <a:ln/>
        </p:spPr>
        <p:txBody>
          <a:bodyPr wrap="square" rtlCol="0" anchor="ctr"/>
          <a:lstStyle/>
          <a:p>
            <a:pPr marL="0" indent="0">
              <a:buNone/>
            </a:pPr>
            <a:r>
              <a:rPr lang="en-US" sz="2200" b="1" dirty="0">
                <a:solidFill>
                  <a:srgbClr val="2B3A52"/>
                </a:solidFill>
                <a:latin typeface="Georgia" pitchFamily="34" charset="0"/>
                <a:ea typeface="Georgia" pitchFamily="34" charset="-122"/>
                <a:cs typeface="Georgia" pitchFamily="34" charset="-120"/>
              </a:rPr>
              <a:t>Less to lose.  Lose more of it.  Nowhere cheaper to go.</a:t>
            </a:r>
            <a:endParaRPr lang="en-US" sz="2200" dirty="0"/>
          </a:p>
        </p:txBody>
      </p:sp>
      <p:sp>
        <p:nvSpPr>
          <p:cNvPr id="4" name="Shape 2"/>
          <p:cNvSpPr/>
          <p:nvPr/>
        </p:nvSpPr>
        <p:spPr>
          <a:xfrm>
            <a:off x="502920" y="1417320"/>
            <a:ext cx="1938528" cy="822960"/>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5" name="Shape 3"/>
          <p:cNvSpPr/>
          <p:nvPr/>
        </p:nvSpPr>
        <p:spPr>
          <a:xfrm>
            <a:off x="1874520" y="1417320"/>
            <a:ext cx="566928" cy="274320"/>
          </a:xfrm>
          <a:prstGeom prst="rect">
            <a:avLst/>
          </a:prstGeom>
          <a:solidFill>
            <a:srgbClr val="B5342A"/>
          </a:solidFill>
          <a:ln w="12700">
            <a:solidFill>
              <a:srgbClr val="B5342A"/>
            </a:solidFill>
            <a:prstDash val="solid"/>
          </a:ln>
        </p:spPr>
        <p:txBody>
          <a:bodyPr/>
          <a:lstStyle/>
          <a:p>
            <a:endParaRPr lang="en-AU"/>
          </a:p>
        </p:txBody>
      </p:sp>
      <p:sp>
        <p:nvSpPr>
          <p:cNvPr id="6" name="Text 4"/>
          <p:cNvSpPr/>
          <p:nvPr/>
        </p:nvSpPr>
        <p:spPr>
          <a:xfrm>
            <a:off x="1874520" y="1417320"/>
            <a:ext cx="56692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2141</a:t>
            </a:r>
            <a:endParaRPr lang="en-US" sz="800" dirty="0"/>
          </a:p>
        </p:txBody>
      </p:sp>
      <p:sp>
        <p:nvSpPr>
          <p:cNvPr id="7" name="Shape 5"/>
          <p:cNvSpPr/>
          <p:nvPr/>
        </p:nvSpPr>
        <p:spPr>
          <a:xfrm>
            <a:off x="502920" y="1417320"/>
            <a:ext cx="50292" cy="822960"/>
          </a:xfrm>
          <a:prstGeom prst="rect">
            <a:avLst/>
          </a:prstGeom>
          <a:solidFill>
            <a:srgbClr val="B5342A"/>
          </a:solidFill>
          <a:ln w="12700">
            <a:solidFill>
              <a:srgbClr val="B5342A"/>
            </a:solidFill>
            <a:prstDash val="solid"/>
          </a:ln>
        </p:spPr>
        <p:txBody>
          <a:bodyPr/>
          <a:lstStyle/>
          <a:p>
            <a:endParaRPr lang="en-AU"/>
          </a:p>
        </p:txBody>
      </p:sp>
      <p:sp>
        <p:nvSpPr>
          <p:cNvPr id="8" name="Text 6"/>
          <p:cNvSpPr/>
          <p:nvPr/>
        </p:nvSpPr>
        <p:spPr>
          <a:xfrm>
            <a:off x="612648" y="1508760"/>
            <a:ext cx="1207008" cy="347472"/>
          </a:xfrm>
          <a:prstGeom prst="rect">
            <a:avLst/>
          </a:prstGeom>
          <a:noFill/>
          <a:ln/>
        </p:spPr>
        <p:txBody>
          <a:bodyPr wrap="square" rtlCol="0" anchor="ctr"/>
          <a:lstStyle/>
          <a:p>
            <a:pPr marL="0" indent="0">
              <a:buNone/>
            </a:pPr>
            <a:r>
              <a:rPr lang="en-US" sz="1300" b="1" dirty="0">
                <a:solidFill>
                  <a:srgbClr val="2B3A52"/>
                </a:solidFill>
                <a:latin typeface="Calibri" pitchFamily="34" charset="0"/>
                <a:ea typeface="Calibri" pitchFamily="34" charset="-122"/>
                <a:cs typeface="Calibri" pitchFamily="34" charset="-120"/>
              </a:rPr>
              <a:t>Auburn</a:t>
            </a:r>
            <a:endParaRPr lang="en-US" sz="1300" dirty="0"/>
          </a:p>
        </p:txBody>
      </p:sp>
      <p:sp>
        <p:nvSpPr>
          <p:cNvPr id="9" name="Text 7"/>
          <p:cNvSpPr/>
          <p:nvPr/>
        </p:nvSpPr>
        <p:spPr>
          <a:xfrm>
            <a:off x="612648" y="1892808"/>
            <a:ext cx="1773936" cy="256032"/>
          </a:xfrm>
          <a:prstGeom prst="rect">
            <a:avLst/>
          </a:prstGeom>
          <a:noFill/>
          <a:ln/>
        </p:spPr>
        <p:txBody>
          <a:bodyPr wrap="square" rtlCol="0" anchor="ctr"/>
          <a:lstStyle/>
          <a:p>
            <a:pPr marL="0" indent="0">
              <a:buNone/>
            </a:pPr>
            <a:r>
              <a:rPr lang="en-US" sz="1000" dirty="0">
                <a:solidFill>
                  <a:srgbClr val="8A8680"/>
                </a:solidFill>
                <a:latin typeface="Calibri" pitchFamily="34" charset="0"/>
                <a:ea typeface="Calibri" pitchFamily="34" charset="-122"/>
                <a:cs typeface="Calibri" pitchFamily="34" charset="-120"/>
              </a:rPr>
              <a:t>$750/wk  |  Decile 2</a:t>
            </a:r>
            <a:endParaRPr lang="en-US" sz="1000" dirty="0"/>
          </a:p>
        </p:txBody>
      </p:sp>
      <p:sp>
        <p:nvSpPr>
          <p:cNvPr id="10" name="Shape 8"/>
          <p:cNvSpPr/>
          <p:nvPr/>
        </p:nvSpPr>
        <p:spPr>
          <a:xfrm>
            <a:off x="2514600" y="1417320"/>
            <a:ext cx="1938528" cy="822960"/>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11" name="Shape 9"/>
          <p:cNvSpPr/>
          <p:nvPr/>
        </p:nvSpPr>
        <p:spPr>
          <a:xfrm>
            <a:off x="3886200" y="1417320"/>
            <a:ext cx="566928" cy="274320"/>
          </a:xfrm>
          <a:prstGeom prst="rect">
            <a:avLst/>
          </a:prstGeom>
          <a:solidFill>
            <a:srgbClr val="B5342A"/>
          </a:solidFill>
          <a:ln w="12700">
            <a:solidFill>
              <a:srgbClr val="B5342A"/>
            </a:solidFill>
            <a:prstDash val="solid"/>
          </a:ln>
        </p:spPr>
        <p:txBody>
          <a:bodyPr/>
          <a:lstStyle/>
          <a:p>
            <a:endParaRPr lang="en-AU"/>
          </a:p>
        </p:txBody>
      </p:sp>
      <p:sp>
        <p:nvSpPr>
          <p:cNvPr id="12" name="Text 10"/>
          <p:cNvSpPr/>
          <p:nvPr/>
        </p:nvSpPr>
        <p:spPr>
          <a:xfrm>
            <a:off x="3886200" y="1417320"/>
            <a:ext cx="56692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2134</a:t>
            </a:r>
            <a:endParaRPr lang="en-US" sz="800" dirty="0"/>
          </a:p>
        </p:txBody>
      </p:sp>
      <p:sp>
        <p:nvSpPr>
          <p:cNvPr id="13" name="Shape 11"/>
          <p:cNvSpPr/>
          <p:nvPr/>
        </p:nvSpPr>
        <p:spPr>
          <a:xfrm>
            <a:off x="2514600" y="1417320"/>
            <a:ext cx="50292" cy="822960"/>
          </a:xfrm>
          <a:prstGeom prst="rect">
            <a:avLst/>
          </a:prstGeom>
          <a:solidFill>
            <a:srgbClr val="B5342A"/>
          </a:solidFill>
          <a:ln w="12700">
            <a:solidFill>
              <a:srgbClr val="B5342A"/>
            </a:solidFill>
            <a:prstDash val="solid"/>
          </a:ln>
        </p:spPr>
        <p:txBody>
          <a:bodyPr/>
          <a:lstStyle/>
          <a:p>
            <a:endParaRPr lang="en-AU"/>
          </a:p>
        </p:txBody>
      </p:sp>
      <p:sp>
        <p:nvSpPr>
          <p:cNvPr id="14" name="Text 12"/>
          <p:cNvSpPr/>
          <p:nvPr/>
        </p:nvSpPr>
        <p:spPr>
          <a:xfrm>
            <a:off x="2624328" y="1508760"/>
            <a:ext cx="1207008" cy="347472"/>
          </a:xfrm>
          <a:prstGeom prst="rect">
            <a:avLst/>
          </a:prstGeom>
          <a:noFill/>
          <a:ln/>
        </p:spPr>
        <p:txBody>
          <a:bodyPr wrap="square" rtlCol="0" anchor="ctr"/>
          <a:lstStyle/>
          <a:p>
            <a:pPr marL="0" indent="0">
              <a:buNone/>
            </a:pPr>
            <a:r>
              <a:rPr lang="en-US" sz="1300" b="1" dirty="0">
                <a:solidFill>
                  <a:srgbClr val="2B3A52"/>
                </a:solidFill>
                <a:latin typeface="Calibri" pitchFamily="34" charset="0"/>
                <a:ea typeface="Calibri" pitchFamily="34" charset="-122"/>
                <a:cs typeface="Calibri" pitchFamily="34" charset="-120"/>
              </a:rPr>
              <a:t>Burwood</a:t>
            </a:r>
            <a:endParaRPr lang="en-US" sz="1300" dirty="0"/>
          </a:p>
        </p:txBody>
      </p:sp>
      <p:sp>
        <p:nvSpPr>
          <p:cNvPr id="15" name="Text 13"/>
          <p:cNvSpPr/>
          <p:nvPr/>
        </p:nvSpPr>
        <p:spPr>
          <a:xfrm>
            <a:off x="2624328" y="1892808"/>
            <a:ext cx="1773936" cy="256032"/>
          </a:xfrm>
          <a:prstGeom prst="rect">
            <a:avLst/>
          </a:prstGeom>
          <a:noFill/>
          <a:ln/>
        </p:spPr>
        <p:txBody>
          <a:bodyPr wrap="square" rtlCol="0" anchor="ctr"/>
          <a:lstStyle/>
          <a:p>
            <a:pPr marL="0" indent="0">
              <a:buNone/>
            </a:pPr>
            <a:r>
              <a:rPr lang="en-US" sz="1000" dirty="0">
                <a:solidFill>
                  <a:srgbClr val="8A8680"/>
                </a:solidFill>
                <a:latin typeface="Calibri" pitchFamily="34" charset="0"/>
                <a:ea typeface="Calibri" pitchFamily="34" charset="-122"/>
                <a:cs typeface="Calibri" pitchFamily="34" charset="-120"/>
              </a:rPr>
              <a:t>$800/wk  |  Decile 2</a:t>
            </a:r>
            <a:endParaRPr lang="en-US" sz="1000" dirty="0"/>
          </a:p>
        </p:txBody>
      </p:sp>
      <p:sp>
        <p:nvSpPr>
          <p:cNvPr id="16" name="Shape 14"/>
          <p:cNvSpPr/>
          <p:nvPr/>
        </p:nvSpPr>
        <p:spPr>
          <a:xfrm>
            <a:off x="4526280" y="1417320"/>
            <a:ext cx="1938528" cy="822960"/>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17" name="Shape 15"/>
          <p:cNvSpPr/>
          <p:nvPr/>
        </p:nvSpPr>
        <p:spPr>
          <a:xfrm>
            <a:off x="5897880" y="1417320"/>
            <a:ext cx="566928" cy="274320"/>
          </a:xfrm>
          <a:prstGeom prst="rect">
            <a:avLst/>
          </a:prstGeom>
          <a:solidFill>
            <a:srgbClr val="B5342A"/>
          </a:solidFill>
          <a:ln w="12700">
            <a:solidFill>
              <a:srgbClr val="B5342A"/>
            </a:solidFill>
            <a:prstDash val="solid"/>
          </a:ln>
        </p:spPr>
        <p:txBody>
          <a:bodyPr/>
          <a:lstStyle/>
          <a:p>
            <a:endParaRPr lang="en-AU"/>
          </a:p>
        </p:txBody>
      </p:sp>
      <p:sp>
        <p:nvSpPr>
          <p:cNvPr id="18" name="Text 16"/>
          <p:cNvSpPr/>
          <p:nvPr/>
        </p:nvSpPr>
        <p:spPr>
          <a:xfrm>
            <a:off x="5897880" y="1417320"/>
            <a:ext cx="56692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2197</a:t>
            </a:r>
            <a:endParaRPr lang="en-US" sz="800" dirty="0"/>
          </a:p>
        </p:txBody>
      </p:sp>
      <p:sp>
        <p:nvSpPr>
          <p:cNvPr id="19" name="Shape 17"/>
          <p:cNvSpPr/>
          <p:nvPr/>
        </p:nvSpPr>
        <p:spPr>
          <a:xfrm>
            <a:off x="4526280" y="1417320"/>
            <a:ext cx="50292" cy="822960"/>
          </a:xfrm>
          <a:prstGeom prst="rect">
            <a:avLst/>
          </a:prstGeom>
          <a:solidFill>
            <a:srgbClr val="B5342A"/>
          </a:solidFill>
          <a:ln w="12700">
            <a:solidFill>
              <a:srgbClr val="B5342A"/>
            </a:solidFill>
            <a:prstDash val="solid"/>
          </a:ln>
        </p:spPr>
        <p:txBody>
          <a:bodyPr/>
          <a:lstStyle/>
          <a:p>
            <a:endParaRPr lang="en-AU"/>
          </a:p>
        </p:txBody>
      </p:sp>
      <p:sp>
        <p:nvSpPr>
          <p:cNvPr id="20" name="Text 18"/>
          <p:cNvSpPr/>
          <p:nvPr/>
        </p:nvSpPr>
        <p:spPr>
          <a:xfrm>
            <a:off x="4636008" y="1508760"/>
            <a:ext cx="1207008" cy="347472"/>
          </a:xfrm>
          <a:prstGeom prst="rect">
            <a:avLst/>
          </a:prstGeom>
          <a:noFill/>
          <a:ln/>
        </p:spPr>
        <p:txBody>
          <a:bodyPr wrap="square" rtlCol="0" anchor="ctr"/>
          <a:lstStyle/>
          <a:p>
            <a:pPr marL="0" indent="0">
              <a:buNone/>
            </a:pPr>
            <a:r>
              <a:rPr lang="en-US" sz="1300" b="1" dirty="0">
                <a:solidFill>
                  <a:srgbClr val="2B3A52"/>
                </a:solidFill>
                <a:latin typeface="Calibri" pitchFamily="34" charset="0"/>
                <a:ea typeface="Calibri" pitchFamily="34" charset="-122"/>
                <a:cs typeface="Calibri" pitchFamily="34" charset="-120"/>
              </a:rPr>
              <a:t>Chester Hill</a:t>
            </a:r>
            <a:endParaRPr lang="en-US" sz="1300" dirty="0"/>
          </a:p>
        </p:txBody>
      </p:sp>
      <p:sp>
        <p:nvSpPr>
          <p:cNvPr id="21" name="Text 19"/>
          <p:cNvSpPr/>
          <p:nvPr/>
        </p:nvSpPr>
        <p:spPr>
          <a:xfrm>
            <a:off x="4636008" y="1892808"/>
            <a:ext cx="1773936" cy="256032"/>
          </a:xfrm>
          <a:prstGeom prst="rect">
            <a:avLst/>
          </a:prstGeom>
          <a:noFill/>
          <a:ln/>
        </p:spPr>
        <p:txBody>
          <a:bodyPr wrap="square" rtlCol="0" anchor="ctr"/>
          <a:lstStyle/>
          <a:p>
            <a:pPr marL="0" indent="0">
              <a:buNone/>
            </a:pPr>
            <a:r>
              <a:rPr lang="en-US" sz="1000" dirty="0">
                <a:solidFill>
                  <a:srgbClr val="8A8680"/>
                </a:solidFill>
                <a:latin typeface="Calibri" pitchFamily="34" charset="0"/>
                <a:ea typeface="Calibri" pitchFamily="34" charset="-122"/>
                <a:cs typeface="Calibri" pitchFamily="34" charset="-120"/>
              </a:rPr>
              <a:t>$790/wk  |  Decile 1</a:t>
            </a:r>
            <a:endParaRPr lang="en-US" sz="1000" dirty="0"/>
          </a:p>
        </p:txBody>
      </p:sp>
      <p:sp>
        <p:nvSpPr>
          <p:cNvPr id="22" name="Shape 20"/>
          <p:cNvSpPr/>
          <p:nvPr/>
        </p:nvSpPr>
        <p:spPr>
          <a:xfrm>
            <a:off x="6537960" y="1417320"/>
            <a:ext cx="1938528" cy="822960"/>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23" name="Shape 21"/>
          <p:cNvSpPr/>
          <p:nvPr/>
        </p:nvSpPr>
        <p:spPr>
          <a:xfrm>
            <a:off x="7909560" y="1417320"/>
            <a:ext cx="566928" cy="274320"/>
          </a:xfrm>
          <a:prstGeom prst="rect">
            <a:avLst/>
          </a:prstGeom>
          <a:solidFill>
            <a:srgbClr val="B5342A"/>
          </a:solidFill>
          <a:ln w="12700">
            <a:solidFill>
              <a:srgbClr val="B5342A"/>
            </a:solidFill>
            <a:prstDash val="solid"/>
          </a:ln>
        </p:spPr>
        <p:txBody>
          <a:bodyPr/>
          <a:lstStyle/>
          <a:p>
            <a:endParaRPr lang="en-AU"/>
          </a:p>
        </p:txBody>
      </p:sp>
      <p:sp>
        <p:nvSpPr>
          <p:cNvPr id="24" name="Text 22"/>
          <p:cNvSpPr/>
          <p:nvPr/>
        </p:nvSpPr>
        <p:spPr>
          <a:xfrm>
            <a:off x="7909560" y="1417320"/>
            <a:ext cx="56692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2190</a:t>
            </a:r>
            <a:endParaRPr lang="en-US" sz="800" dirty="0"/>
          </a:p>
        </p:txBody>
      </p:sp>
      <p:sp>
        <p:nvSpPr>
          <p:cNvPr id="25" name="Shape 23"/>
          <p:cNvSpPr/>
          <p:nvPr/>
        </p:nvSpPr>
        <p:spPr>
          <a:xfrm>
            <a:off x="6537960" y="1417320"/>
            <a:ext cx="50292" cy="822960"/>
          </a:xfrm>
          <a:prstGeom prst="rect">
            <a:avLst/>
          </a:prstGeom>
          <a:solidFill>
            <a:srgbClr val="B5342A"/>
          </a:solidFill>
          <a:ln w="12700">
            <a:solidFill>
              <a:srgbClr val="B5342A"/>
            </a:solidFill>
            <a:prstDash val="solid"/>
          </a:ln>
        </p:spPr>
        <p:txBody>
          <a:bodyPr/>
          <a:lstStyle/>
          <a:p>
            <a:endParaRPr lang="en-AU"/>
          </a:p>
        </p:txBody>
      </p:sp>
      <p:sp>
        <p:nvSpPr>
          <p:cNvPr id="26" name="Text 24"/>
          <p:cNvSpPr/>
          <p:nvPr/>
        </p:nvSpPr>
        <p:spPr>
          <a:xfrm>
            <a:off x="6647688" y="1508760"/>
            <a:ext cx="1207008" cy="347472"/>
          </a:xfrm>
          <a:prstGeom prst="rect">
            <a:avLst/>
          </a:prstGeom>
          <a:noFill/>
          <a:ln/>
        </p:spPr>
        <p:txBody>
          <a:bodyPr wrap="square" rtlCol="0" anchor="ctr"/>
          <a:lstStyle/>
          <a:p>
            <a:pPr marL="0" indent="0">
              <a:buNone/>
            </a:pPr>
            <a:r>
              <a:rPr lang="en-US" sz="1300" b="1" dirty="0">
                <a:solidFill>
                  <a:srgbClr val="2B3A52"/>
                </a:solidFill>
                <a:latin typeface="Calibri" pitchFamily="34" charset="0"/>
                <a:ea typeface="Calibri" pitchFamily="34" charset="-122"/>
                <a:cs typeface="Calibri" pitchFamily="34" charset="-120"/>
              </a:rPr>
              <a:t>Greenacre</a:t>
            </a:r>
            <a:endParaRPr lang="en-US" sz="1300" dirty="0"/>
          </a:p>
        </p:txBody>
      </p:sp>
      <p:sp>
        <p:nvSpPr>
          <p:cNvPr id="27" name="Text 25"/>
          <p:cNvSpPr/>
          <p:nvPr/>
        </p:nvSpPr>
        <p:spPr>
          <a:xfrm>
            <a:off x="6647688" y="1892808"/>
            <a:ext cx="1773936" cy="256032"/>
          </a:xfrm>
          <a:prstGeom prst="rect">
            <a:avLst/>
          </a:prstGeom>
          <a:noFill/>
          <a:ln/>
        </p:spPr>
        <p:txBody>
          <a:bodyPr wrap="square" rtlCol="0" anchor="ctr"/>
          <a:lstStyle/>
          <a:p>
            <a:pPr marL="0" indent="0">
              <a:buNone/>
            </a:pPr>
            <a:r>
              <a:rPr lang="en-US" sz="1000" dirty="0">
                <a:solidFill>
                  <a:srgbClr val="8A8680"/>
                </a:solidFill>
                <a:latin typeface="Calibri" pitchFamily="34" charset="0"/>
                <a:ea typeface="Calibri" pitchFamily="34" charset="-122"/>
                <a:cs typeface="Calibri" pitchFamily="34" charset="-120"/>
              </a:rPr>
              <a:t>$750/wk  |  Decile 1</a:t>
            </a:r>
            <a:endParaRPr lang="en-US" sz="1000" dirty="0"/>
          </a:p>
        </p:txBody>
      </p:sp>
      <p:sp>
        <p:nvSpPr>
          <p:cNvPr id="28" name="Shape 26"/>
          <p:cNvSpPr/>
          <p:nvPr/>
        </p:nvSpPr>
        <p:spPr>
          <a:xfrm>
            <a:off x="502920" y="2395728"/>
            <a:ext cx="1938528" cy="822960"/>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29" name="Shape 27"/>
          <p:cNvSpPr/>
          <p:nvPr/>
        </p:nvSpPr>
        <p:spPr>
          <a:xfrm>
            <a:off x="1874520" y="2395728"/>
            <a:ext cx="566928" cy="274320"/>
          </a:xfrm>
          <a:prstGeom prst="rect">
            <a:avLst/>
          </a:prstGeom>
          <a:solidFill>
            <a:srgbClr val="B5342A"/>
          </a:solidFill>
          <a:ln w="12700">
            <a:solidFill>
              <a:srgbClr val="B5342A"/>
            </a:solidFill>
            <a:prstDash val="solid"/>
          </a:ln>
        </p:spPr>
        <p:txBody>
          <a:bodyPr/>
          <a:lstStyle/>
          <a:p>
            <a:endParaRPr lang="en-AU"/>
          </a:p>
        </p:txBody>
      </p:sp>
      <p:sp>
        <p:nvSpPr>
          <p:cNvPr id="30" name="Text 28"/>
          <p:cNvSpPr/>
          <p:nvPr/>
        </p:nvSpPr>
        <p:spPr>
          <a:xfrm>
            <a:off x="1874520" y="2395728"/>
            <a:ext cx="56692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2220</a:t>
            </a:r>
            <a:endParaRPr lang="en-US" sz="800" dirty="0"/>
          </a:p>
        </p:txBody>
      </p:sp>
      <p:sp>
        <p:nvSpPr>
          <p:cNvPr id="31" name="Shape 29"/>
          <p:cNvSpPr/>
          <p:nvPr/>
        </p:nvSpPr>
        <p:spPr>
          <a:xfrm>
            <a:off x="502920" y="2395728"/>
            <a:ext cx="50292" cy="822960"/>
          </a:xfrm>
          <a:prstGeom prst="rect">
            <a:avLst/>
          </a:prstGeom>
          <a:solidFill>
            <a:srgbClr val="B5342A"/>
          </a:solidFill>
          <a:ln w="12700">
            <a:solidFill>
              <a:srgbClr val="B5342A"/>
            </a:solidFill>
            <a:prstDash val="solid"/>
          </a:ln>
        </p:spPr>
        <p:txBody>
          <a:bodyPr/>
          <a:lstStyle/>
          <a:p>
            <a:endParaRPr lang="en-AU"/>
          </a:p>
        </p:txBody>
      </p:sp>
      <p:sp>
        <p:nvSpPr>
          <p:cNvPr id="32" name="Text 30"/>
          <p:cNvSpPr/>
          <p:nvPr/>
        </p:nvSpPr>
        <p:spPr>
          <a:xfrm>
            <a:off x="612648" y="2487168"/>
            <a:ext cx="1207008" cy="347472"/>
          </a:xfrm>
          <a:prstGeom prst="rect">
            <a:avLst/>
          </a:prstGeom>
          <a:noFill/>
          <a:ln/>
        </p:spPr>
        <p:txBody>
          <a:bodyPr wrap="square" rtlCol="0" anchor="ctr"/>
          <a:lstStyle/>
          <a:p>
            <a:pPr marL="0" indent="0">
              <a:buNone/>
            </a:pPr>
            <a:r>
              <a:rPr lang="en-US" sz="1300" b="1" dirty="0">
                <a:solidFill>
                  <a:srgbClr val="2B3A52"/>
                </a:solidFill>
                <a:latin typeface="Calibri" pitchFamily="34" charset="0"/>
                <a:ea typeface="Calibri" pitchFamily="34" charset="-122"/>
                <a:cs typeface="Calibri" pitchFamily="34" charset="-120"/>
              </a:rPr>
              <a:t>Hurstville</a:t>
            </a:r>
            <a:endParaRPr lang="en-US" sz="1300" dirty="0"/>
          </a:p>
        </p:txBody>
      </p:sp>
      <p:sp>
        <p:nvSpPr>
          <p:cNvPr id="33" name="Text 31"/>
          <p:cNvSpPr/>
          <p:nvPr/>
        </p:nvSpPr>
        <p:spPr>
          <a:xfrm>
            <a:off x="612648" y="2871216"/>
            <a:ext cx="1773936" cy="256032"/>
          </a:xfrm>
          <a:prstGeom prst="rect">
            <a:avLst/>
          </a:prstGeom>
          <a:noFill/>
          <a:ln/>
        </p:spPr>
        <p:txBody>
          <a:bodyPr wrap="square" rtlCol="0" anchor="ctr"/>
          <a:lstStyle/>
          <a:p>
            <a:pPr marL="0" indent="0">
              <a:buNone/>
            </a:pPr>
            <a:r>
              <a:rPr lang="en-US" sz="1000" dirty="0">
                <a:solidFill>
                  <a:srgbClr val="8A8680"/>
                </a:solidFill>
                <a:latin typeface="Calibri" pitchFamily="34" charset="0"/>
                <a:ea typeface="Calibri" pitchFamily="34" charset="-122"/>
                <a:cs typeface="Calibri" pitchFamily="34" charset="-120"/>
              </a:rPr>
              <a:t>$730/wk  |  Decile 3</a:t>
            </a:r>
            <a:endParaRPr lang="en-US" sz="1000" dirty="0"/>
          </a:p>
        </p:txBody>
      </p:sp>
      <p:sp>
        <p:nvSpPr>
          <p:cNvPr id="34" name="Shape 32"/>
          <p:cNvSpPr/>
          <p:nvPr/>
        </p:nvSpPr>
        <p:spPr>
          <a:xfrm>
            <a:off x="2514600" y="2395728"/>
            <a:ext cx="1938528" cy="822960"/>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35" name="Shape 33"/>
          <p:cNvSpPr/>
          <p:nvPr/>
        </p:nvSpPr>
        <p:spPr>
          <a:xfrm>
            <a:off x="3886200" y="2395728"/>
            <a:ext cx="566928" cy="274320"/>
          </a:xfrm>
          <a:prstGeom prst="rect">
            <a:avLst/>
          </a:prstGeom>
          <a:solidFill>
            <a:srgbClr val="B5342A"/>
          </a:solidFill>
          <a:ln w="12700">
            <a:solidFill>
              <a:srgbClr val="B5342A"/>
            </a:solidFill>
            <a:prstDash val="solid"/>
          </a:ln>
        </p:spPr>
        <p:txBody>
          <a:bodyPr/>
          <a:lstStyle/>
          <a:p>
            <a:endParaRPr lang="en-AU"/>
          </a:p>
        </p:txBody>
      </p:sp>
      <p:sp>
        <p:nvSpPr>
          <p:cNvPr id="36" name="Text 34"/>
          <p:cNvSpPr/>
          <p:nvPr/>
        </p:nvSpPr>
        <p:spPr>
          <a:xfrm>
            <a:off x="3886200" y="2395728"/>
            <a:ext cx="56692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2209</a:t>
            </a:r>
            <a:endParaRPr lang="en-US" sz="800" dirty="0"/>
          </a:p>
        </p:txBody>
      </p:sp>
      <p:sp>
        <p:nvSpPr>
          <p:cNvPr id="37" name="Shape 35"/>
          <p:cNvSpPr/>
          <p:nvPr/>
        </p:nvSpPr>
        <p:spPr>
          <a:xfrm>
            <a:off x="2514600" y="2395728"/>
            <a:ext cx="50292" cy="822960"/>
          </a:xfrm>
          <a:prstGeom prst="rect">
            <a:avLst/>
          </a:prstGeom>
          <a:solidFill>
            <a:srgbClr val="B5342A"/>
          </a:solidFill>
          <a:ln w="12700">
            <a:solidFill>
              <a:srgbClr val="B5342A"/>
            </a:solidFill>
            <a:prstDash val="solid"/>
          </a:ln>
        </p:spPr>
        <p:txBody>
          <a:bodyPr/>
          <a:lstStyle/>
          <a:p>
            <a:endParaRPr lang="en-AU"/>
          </a:p>
        </p:txBody>
      </p:sp>
      <p:sp>
        <p:nvSpPr>
          <p:cNvPr id="38" name="Text 36"/>
          <p:cNvSpPr/>
          <p:nvPr/>
        </p:nvSpPr>
        <p:spPr>
          <a:xfrm>
            <a:off x="2624328" y="2487168"/>
            <a:ext cx="1207008" cy="347472"/>
          </a:xfrm>
          <a:prstGeom prst="rect">
            <a:avLst/>
          </a:prstGeom>
          <a:noFill/>
          <a:ln/>
        </p:spPr>
        <p:txBody>
          <a:bodyPr wrap="square" rtlCol="0" anchor="ctr"/>
          <a:lstStyle/>
          <a:p>
            <a:pPr marL="0" indent="0">
              <a:buNone/>
            </a:pPr>
            <a:r>
              <a:rPr lang="en-US" sz="1300" b="1" dirty="0">
                <a:solidFill>
                  <a:srgbClr val="2B3A52"/>
                </a:solidFill>
                <a:latin typeface="Calibri" pitchFamily="34" charset="0"/>
                <a:ea typeface="Calibri" pitchFamily="34" charset="-122"/>
                <a:cs typeface="Calibri" pitchFamily="34" charset="-120"/>
              </a:rPr>
              <a:t>Padstow</a:t>
            </a:r>
            <a:endParaRPr lang="en-US" sz="1300" dirty="0"/>
          </a:p>
        </p:txBody>
      </p:sp>
      <p:sp>
        <p:nvSpPr>
          <p:cNvPr id="39" name="Text 37"/>
          <p:cNvSpPr/>
          <p:nvPr/>
        </p:nvSpPr>
        <p:spPr>
          <a:xfrm>
            <a:off x="2624328" y="2871216"/>
            <a:ext cx="1773936" cy="256032"/>
          </a:xfrm>
          <a:prstGeom prst="rect">
            <a:avLst/>
          </a:prstGeom>
          <a:noFill/>
          <a:ln/>
        </p:spPr>
        <p:txBody>
          <a:bodyPr wrap="square" rtlCol="0" anchor="ctr"/>
          <a:lstStyle/>
          <a:p>
            <a:pPr marL="0" indent="0">
              <a:buNone/>
            </a:pPr>
            <a:r>
              <a:rPr lang="en-US" sz="1000" dirty="0">
                <a:solidFill>
                  <a:srgbClr val="8A8680"/>
                </a:solidFill>
                <a:latin typeface="Calibri" pitchFamily="34" charset="0"/>
                <a:ea typeface="Calibri" pitchFamily="34" charset="-122"/>
                <a:cs typeface="Calibri" pitchFamily="34" charset="-120"/>
              </a:rPr>
              <a:t>$690/wk  |  Decile 3</a:t>
            </a:r>
            <a:endParaRPr lang="en-US" sz="1000" dirty="0"/>
          </a:p>
        </p:txBody>
      </p:sp>
      <p:sp>
        <p:nvSpPr>
          <p:cNvPr id="40" name="Shape 38"/>
          <p:cNvSpPr/>
          <p:nvPr/>
        </p:nvSpPr>
        <p:spPr>
          <a:xfrm>
            <a:off x="4526280" y="2395728"/>
            <a:ext cx="1938528" cy="822960"/>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41" name="Shape 39"/>
          <p:cNvSpPr/>
          <p:nvPr/>
        </p:nvSpPr>
        <p:spPr>
          <a:xfrm>
            <a:off x="5897880" y="2395728"/>
            <a:ext cx="566928" cy="274320"/>
          </a:xfrm>
          <a:prstGeom prst="rect">
            <a:avLst/>
          </a:prstGeom>
          <a:solidFill>
            <a:srgbClr val="B5342A"/>
          </a:solidFill>
          <a:ln w="12700">
            <a:solidFill>
              <a:srgbClr val="B5342A"/>
            </a:solidFill>
            <a:prstDash val="solid"/>
          </a:ln>
        </p:spPr>
        <p:txBody>
          <a:bodyPr/>
          <a:lstStyle/>
          <a:p>
            <a:endParaRPr lang="en-AU"/>
          </a:p>
        </p:txBody>
      </p:sp>
      <p:sp>
        <p:nvSpPr>
          <p:cNvPr id="42" name="Text 40"/>
          <p:cNvSpPr/>
          <p:nvPr/>
        </p:nvSpPr>
        <p:spPr>
          <a:xfrm>
            <a:off x="5897880" y="2395728"/>
            <a:ext cx="56692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2485</a:t>
            </a:r>
            <a:endParaRPr lang="en-US" sz="800" dirty="0"/>
          </a:p>
        </p:txBody>
      </p:sp>
      <p:sp>
        <p:nvSpPr>
          <p:cNvPr id="43" name="Shape 41"/>
          <p:cNvSpPr/>
          <p:nvPr/>
        </p:nvSpPr>
        <p:spPr>
          <a:xfrm>
            <a:off x="4526280" y="2395728"/>
            <a:ext cx="50292" cy="822960"/>
          </a:xfrm>
          <a:prstGeom prst="rect">
            <a:avLst/>
          </a:prstGeom>
          <a:solidFill>
            <a:srgbClr val="B5342A"/>
          </a:solidFill>
          <a:ln w="12700">
            <a:solidFill>
              <a:srgbClr val="B5342A"/>
            </a:solidFill>
            <a:prstDash val="solid"/>
          </a:ln>
        </p:spPr>
        <p:txBody>
          <a:bodyPr/>
          <a:lstStyle/>
          <a:p>
            <a:endParaRPr lang="en-AU"/>
          </a:p>
        </p:txBody>
      </p:sp>
      <p:sp>
        <p:nvSpPr>
          <p:cNvPr id="44" name="Text 42"/>
          <p:cNvSpPr/>
          <p:nvPr/>
        </p:nvSpPr>
        <p:spPr>
          <a:xfrm>
            <a:off x="4636008" y="2487168"/>
            <a:ext cx="1207008" cy="347472"/>
          </a:xfrm>
          <a:prstGeom prst="rect">
            <a:avLst/>
          </a:prstGeom>
          <a:noFill/>
          <a:ln/>
        </p:spPr>
        <p:txBody>
          <a:bodyPr wrap="square" rtlCol="0" anchor="ctr"/>
          <a:lstStyle/>
          <a:p>
            <a:pPr marL="0" indent="0">
              <a:buNone/>
            </a:pPr>
            <a:r>
              <a:rPr lang="en-US" sz="1300" b="1" dirty="0">
                <a:solidFill>
                  <a:srgbClr val="2B3A52"/>
                </a:solidFill>
                <a:latin typeface="Calibri" pitchFamily="34" charset="0"/>
                <a:ea typeface="Calibri" pitchFamily="34" charset="-122"/>
                <a:cs typeface="Calibri" pitchFamily="34" charset="-120"/>
              </a:rPr>
              <a:t>Tweed Heads</a:t>
            </a:r>
            <a:endParaRPr lang="en-US" sz="1300" dirty="0"/>
          </a:p>
        </p:txBody>
      </p:sp>
      <p:sp>
        <p:nvSpPr>
          <p:cNvPr id="45" name="Text 43"/>
          <p:cNvSpPr/>
          <p:nvPr/>
        </p:nvSpPr>
        <p:spPr>
          <a:xfrm>
            <a:off x="4636008" y="2871216"/>
            <a:ext cx="1773936" cy="256032"/>
          </a:xfrm>
          <a:prstGeom prst="rect">
            <a:avLst/>
          </a:prstGeom>
          <a:noFill/>
          <a:ln/>
        </p:spPr>
        <p:txBody>
          <a:bodyPr wrap="square" rtlCol="0" anchor="ctr"/>
          <a:lstStyle/>
          <a:p>
            <a:pPr marL="0" indent="0">
              <a:buNone/>
            </a:pPr>
            <a:r>
              <a:rPr lang="en-US" sz="1000" dirty="0">
                <a:solidFill>
                  <a:srgbClr val="8A8680"/>
                </a:solidFill>
                <a:latin typeface="Calibri" pitchFamily="34" charset="0"/>
                <a:ea typeface="Calibri" pitchFamily="34" charset="-122"/>
                <a:cs typeface="Calibri" pitchFamily="34" charset="-120"/>
              </a:rPr>
              <a:t>$700/wk  |  Decile 3</a:t>
            </a:r>
            <a:endParaRPr lang="en-US" sz="1000" dirty="0"/>
          </a:p>
        </p:txBody>
      </p:sp>
      <p:sp>
        <p:nvSpPr>
          <p:cNvPr id="46" name="Shape 44"/>
          <p:cNvSpPr/>
          <p:nvPr/>
        </p:nvSpPr>
        <p:spPr>
          <a:xfrm>
            <a:off x="6537960" y="2395728"/>
            <a:ext cx="1938528" cy="822960"/>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47" name="Shape 45"/>
          <p:cNvSpPr/>
          <p:nvPr/>
        </p:nvSpPr>
        <p:spPr>
          <a:xfrm>
            <a:off x="7909560" y="2395728"/>
            <a:ext cx="566928" cy="274320"/>
          </a:xfrm>
          <a:prstGeom prst="rect">
            <a:avLst/>
          </a:prstGeom>
          <a:solidFill>
            <a:srgbClr val="B5342A"/>
          </a:solidFill>
          <a:ln w="12700">
            <a:solidFill>
              <a:srgbClr val="B5342A"/>
            </a:solidFill>
            <a:prstDash val="solid"/>
          </a:ln>
        </p:spPr>
        <p:txBody>
          <a:bodyPr/>
          <a:lstStyle/>
          <a:p>
            <a:endParaRPr lang="en-AU"/>
          </a:p>
        </p:txBody>
      </p:sp>
      <p:sp>
        <p:nvSpPr>
          <p:cNvPr id="48" name="Text 46"/>
          <p:cNvSpPr/>
          <p:nvPr/>
        </p:nvSpPr>
        <p:spPr>
          <a:xfrm>
            <a:off x="7909560" y="2395728"/>
            <a:ext cx="56692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2176</a:t>
            </a:r>
            <a:endParaRPr lang="en-US" sz="800" dirty="0"/>
          </a:p>
        </p:txBody>
      </p:sp>
      <p:sp>
        <p:nvSpPr>
          <p:cNvPr id="49" name="Shape 47"/>
          <p:cNvSpPr/>
          <p:nvPr/>
        </p:nvSpPr>
        <p:spPr>
          <a:xfrm>
            <a:off x="6537960" y="2395728"/>
            <a:ext cx="50292" cy="822960"/>
          </a:xfrm>
          <a:prstGeom prst="rect">
            <a:avLst/>
          </a:prstGeom>
          <a:solidFill>
            <a:srgbClr val="B5342A"/>
          </a:solidFill>
          <a:ln w="12700">
            <a:solidFill>
              <a:srgbClr val="B5342A"/>
            </a:solidFill>
            <a:prstDash val="solid"/>
          </a:ln>
        </p:spPr>
        <p:txBody>
          <a:bodyPr/>
          <a:lstStyle/>
          <a:p>
            <a:endParaRPr lang="en-AU"/>
          </a:p>
        </p:txBody>
      </p:sp>
      <p:sp>
        <p:nvSpPr>
          <p:cNvPr id="50" name="Text 48"/>
          <p:cNvSpPr/>
          <p:nvPr/>
        </p:nvSpPr>
        <p:spPr>
          <a:xfrm>
            <a:off x="6647688" y="2487168"/>
            <a:ext cx="1207008" cy="347472"/>
          </a:xfrm>
          <a:prstGeom prst="rect">
            <a:avLst/>
          </a:prstGeom>
          <a:noFill/>
          <a:ln/>
        </p:spPr>
        <p:txBody>
          <a:bodyPr wrap="square" rtlCol="0" anchor="ctr"/>
          <a:lstStyle/>
          <a:p>
            <a:pPr marL="0" indent="0">
              <a:buNone/>
            </a:pPr>
            <a:r>
              <a:rPr lang="en-US" sz="1300" b="1" dirty="0">
                <a:solidFill>
                  <a:srgbClr val="2B3A52"/>
                </a:solidFill>
                <a:latin typeface="Calibri" pitchFamily="34" charset="0"/>
                <a:ea typeface="Calibri" pitchFamily="34" charset="-122"/>
                <a:cs typeface="Calibri" pitchFamily="34" charset="-120"/>
              </a:rPr>
              <a:t>Wetherill Park</a:t>
            </a:r>
            <a:endParaRPr lang="en-US" sz="1300" dirty="0"/>
          </a:p>
        </p:txBody>
      </p:sp>
      <p:sp>
        <p:nvSpPr>
          <p:cNvPr id="51" name="Text 49"/>
          <p:cNvSpPr/>
          <p:nvPr/>
        </p:nvSpPr>
        <p:spPr>
          <a:xfrm>
            <a:off x="6647688" y="2871216"/>
            <a:ext cx="1773936" cy="256032"/>
          </a:xfrm>
          <a:prstGeom prst="rect">
            <a:avLst/>
          </a:prstGeom>
          <a:noFill/>
          <a:ln/>
        </p:spPr>
        <p:txBody>
          <a:bodyPr wrap="square" rtlCol="0" anchor="ctr"/>
          <a:lstStyle/>
          <a:p>
            <a:pPr marL="0" indent="0">
              <a:buNone/>
            </a:pPr>
            <a:r>
              <a:rPr lang="en-US" sz="1000" dirty="0">
                <a:solidFill>
                  <a:srgbClr val="8A8680"/>
                </a:solidFill>
                <a:latin typeface="Calibri" pitchFamily="34" charset="0"/>
                <a:ea typeface="Calibri" pitchFamily="34" charset="-122"/>
                <a:cs typeface="Calibri" pitchFamily="34" charset="-120"/>
              </a:rPr>
              <a:t>$700/wk  |  Decile 1</a:t>
            </a:r>
            <a:endParaRPr lang="en-US" sz="1000" dirty="0"/>
          </a:p>
        </p:txBody>
      </p:sp>
      <p:sp>
        <p:nvSpPr>
          <p:cNvPr id="52" name="Shape 50"/>
          <p:cNvSpPr/>
          <p:nvPr/>
        </p:nvSpPr>
        <p:spPr>
          <a:xfrm>
            <a:off x="502920" y="3401568"/>
            <a:ext cx="2560320" cy="1463040"/>
          </a:xfrm>
          <a:prstGeom prst="rect">
            <a:avLst/>
          </a:prstGeom>
          <a:solidFill>
            <a:srgbClr val="2B3A52"/>
          </a:solidFill>
          <a:ln w="12700">
            <a:solidFill>
              <a:srgbClr val="2B3A52"/>
            </a:solidFill>
            <a:prstDash val="solid"/>
          </a:ln>
        </p:spPr>
        <p:txBody>
          <a:bodyPr/>
          <a:lstStyle/>
          <a:p>
            <a:endParaRPr lang="en-AU"/>
          </a:p>
        </p:txBody>
      </p:sp>
      <p:sp>
        <p:nvSpPr>
          <p:cNvPr id="53" name="Text 51"/>
          <p:cNvSpPr/>
          <p:nvPr/>
        </p:nvSpPr>
        <p:spPr>
          <a:xfrm>
            <a:off x="502920" y="3493008"/>
            <a:ext cx="2560320" cy="77724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~200,000</a:t>
            </a:r>
            <a:endParaRPr lang="en-US" sz="3000" dirty="0"/>
          </a:p>
        </p:txBody>
      </p:sp>
      <p:sp>
        <p:nvSpPr>
          <p:cNvPr id="54" name="Text 52"/>
          <p:cNvSpPr/>
          <p:nvPr/>
        </p:nvSpPr>
        <p:spPr>
          <a:xfrm>
            <a:off x="502920" y="4251960"/>
            <a:ext cx="2560320" cy="502920"/>
          </a:xfrm>
          <a:prstGeom prst="rect">
            <a:avLst/>
          </a:prstGeom>
          <a:noFill/>
          <a:ln/>
        </p:spPr>
        <p:txBody>
          <a:bodyPr wrap="square" rtlCol="0" anchor="ctr"/>
          <a:lstStyle/>
          <a:p>
            <a:pPr marL="0" indent="0" algn="ctr">
              <a:buNone/>
            </a:pPr>
            <a:r>
              <a:rPr lang="en-US" sz="1000" dirty="0">
                <a:solidFill>
                  <a:srgbClr val="7A9BB8"/>
                </a:solidFill>
                <a:latin typeface="Calibri" pitchFamily="34" charset="0"/>
                <a:ea typeface="Calibri" pitchFamily="34" charset="-122"/>
                <a:cs typeface="Calibri" pitchFamily="34" charset="-120"/>
              </a:rPr>
              <a:t>residents in these</a:t>
            </a:r>
            <a:endParaRPr lang="en-US" sz="1000" dirty="0"/>
          </a:p>
          <a:p>
            <a:pPr marL="0" indent="0" algn="ctr">
              <a:buNone/>
            </a:pPr>
            <a:r>
              <a:rPr lang="en-US" sz="1000" dirty="0">
                <a:solidFill>
                  <a:srgbClr val="7A9BB8"/>
                </a:solidFill>
                <a:latin typeface="Calibri" pitchFamily="34" charset="0"/>
                <a:ea typeface="Calibri" pitchFamily="34" charset="-122"/>
                <a:cs typeface="Calibri" pitchFamily="34" charset="-120"/>
              </a:rPr>
              <a:t>8 squeezed postcodes</a:t>
            </a:r>
            <a:endParaRPr lang="en-US" sz="1000" dirty="0"/>
          </a:p>
        </p:txBody>
      </p:sp>
      <p:sp>
        <p:nvSpPr>
          <p:cNvPr id="55" name="Shape 53"/>
          <p:cNvSpPr/>
          <p:nvPr/>
        </p:nvSpPr>
        <p:spPr>
          <a:xfrm>
            <a:off x="3246120" y="3401568"/>
            <a:ext cx="5486400" cy="1463040"/>
          </a:xfrm>
          <a:prstGeom prst="rect">
            <a:avLst/>
          </a:prstGeom>
          <a:solidFill>
            <a:srgbClr val="F5E8E7"/>
          </a:solidFill>
          <a:ln w="12700">
            <a:solidFill>
              <a:srgbClr val="DEDAD6"/>
            </a:solidFill>
            <a:prstDash val="solid"/>
          </a:ln>
        </p:spPr>
        <p:txBody>
          <a:bodyPr/>
          <a:lstStyle/>
          <a:p>
            <a:endParaRPr lang="en-AU"/>
          </a:p>
        </p:txBody>
      </p:sp>
      <p:sp>
        <p:nvSpPr>
          <p:cNvPr id="56" name="Text 54"/>
          <p:cNvSpPr/>
          <p:nvPr/>
        </p:nvSpPr>
        <p:spPr>
          <a:xfrm>
            <a:off x="3401568" y="3493008"/>
            <a:ext cx="5257800" cy="1261872"/>
          </a:xfrm>
          <a:prstGeom prst="rect">
            <a:avLst/>
          </a:prstGeom>
          <a:noFill/>
          <a:ln/>
        </p:spPr>
        <p:txBody>
          <a:bodyPr wrap="square" rtlCol="0" anchor="ctr"/>
          <a:lstStyle/>
          <a:p>
            <a:pPr marL="0" indent="0">
              <a:lnSpc>
                <a:spcPct val="135000"/>
              </a:lnSpc>
              <a:buNone/>
            </a:pPr>
            <a:r>
              <a:rPr lang="en-US" sz="1300" dirty="0">
                <a:solidFill>
                  <a:srgbClr val="3D5068"/>
                </a:solidFill>
                <a:latin typeface="Calibri" pitchFamily="34" charset="0"/>
                <a:ea typeface="Calibri" pitchFamily="34" charset="-122"/>
                <a:cs typeface="Calibri" pitchFamily="34" charset="-120"/>
              </a:rPr>
              <a:t>These postcodes sit in SEIFA deciles 1-3 AND carry rents at or above the NSW median. There is no cheaper suburb nearby. Abstract deciles do not move ministers. Named suburbs do.</a:t>
            </a:r>
            <a:endParaRPr lang="en-US" sz="1300" dirty="0"/>
          </a:p>
        </p:txBody>
      </p:sp>
      <p:sp>
        <p:nvSpPr>
          <p:cNvPr id="57" name="Text 55"/>
          <p:cNvSpPr/>
          <p:nvPr/>
        </p:nvSpPr>
        <p:spPr>
          <a:xfrm>
            <a:off x="502920" y="4828032"/>
            <a:ext cx="8229600" cy="219456"/>
          </a:xfrm>
          <a:prstGeom prst="rect">
            <a:avLst/>
          </a:prstGeom>
          <a:noFill/>
          <a:ln/>
        </p:spPr>
        <p:txBody>
          <a:bodyPr wrap="square" rtlCol="0" anchor="ctr"/>
          <a:lstStyle/>
          <a:p>
            <a:pPr marL="0" indent="0">
              <a:buNone/>
            </a:pPr>
            <a:r>
              <a:rPr lang="en-US" sz="900" i="1" dirty="0">
                <a:solidFill>
                  <a:srgbClr val="8A8680"/>
                </a:solidFill>
                <a:latin typeface="Calibri" pitchFamily="34" charset="0"/>
                <a:ea typeface="Calibri" pitchFamily="34" charset="-122"/>
                <a:cs typeface="Calibri" pitchFamily="34" charset="-120"/>
              </a:rPr>
              <a:t>Source: NSW Fair Trading 2025  |  ABS SEIFA 2021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5F2"/>
        </a:solidFill>
        <a:effectLst/>
      </p:bgPr>
    </p:bg>
    <p:spTree>
      <p:nvGrpSpPr>
        <p:cNvPr id="1" name=""/>
        <p:cNvGrpSpPr/>
        <p:nvPr/>
      </p:nvGrpSpPr>
      <p:grpSpPr>
        <a:xfrm>
          <a:off x="0" y="0"/>
          <a:ext cx="0" cy="0"/>
          <a:chOff x="0" y="0"/>
          <a:chExt cx="0" cy="0"/>
        </a:xfrm>
      </p:grpSpPr>
      <p:sp>
        <p:nvSpPr>
          <p:cNvPr id="2" name="Text 0"/>
          <p:cNvSpPr/>
          <p:nvPr/>
        </p:nvSpPr>
        <p:spPr>
          <a:xfrm>
            <a:off x="502920" y="347472"/>
            <a:ext cx="3657600" cy="256032"/>
          </a:xfrm>
          <a:prstGeom prst="rect">
            <a:avLst/>
          </a:prstGeom>
          <a:noFill/>
          <a:ln/>
        </p:spPr>
        <p:txBody>
          <a:bodyPr wrap="square" rtlCol="0" anchor="ctr"/>
          <a:lstStyle/>
          <a:p>
            <a:pPr marL="0" indent="0">
              <a:buNone/>
            </a:pPr>
            <a:r>
              <a:rPr lang="en-US" sz="1000" b="1" kern="0" spc="300" dirty="0">
                <a:solidFill>
                  <a:srgbClr val="8A8680"/>
                </a:solidFill>
                <a:latin typeface="Calibri" pitchFamily="34" charset="0"/>
                <a:ea typeface="Calibri" pitchFamily="34" charset="-122"/>
                <a:cs typeface="Calibri" pitchFamily="34" charset="-120"/>
              </a:rPr>
              <a:t>04  |  THE CYCLE</a:t>
            </a:r>
            <a:endParaRPr lang="en-US" sz="1000" dirty="0"/>
          </a:p>
        </p:txBody>
      </p:sp>
      <p:sp>
        <p:nvSpPr>
          <p:cNvPr id="3" name="Text 1"/>
          <p:cNvSpPr/>
          <p:nvPr/>
        </p:nvSpPr>
        <p:spPr>
          <a:xfrm>
            <a:off x="502920" y="658368"/>
            <a:ext cx="8229600" cy="621792"/>
          </a:xfrm>
          <a:prstGeom prst="rect">
            <a:avLst/>
          </a:prstGeom>
          <a:noFill/>
          <a:ln/>
        </p:spPr>
        <p:txBody>
          <a:bodyPr wrap="square" rtlCol="0" anchor="ctr"/>
          <a:lstStyle/>
          <a:p>
            <a:pPr marL="0" indent="0">
              <a:buNone/>
            </a:pPr>
            <a:r>
              <a:rPr lang="en-US" sz="2200" b="1" dirty="0">
                <a:solidFill>
                  <a:srgbClr val="2B3A52"/>
                </a:solidFill>
                <a:latin typeface="Georgia" pitchFamily="34" charset="0"/>
                <a:ea typeface="Georgia" pitchFamily="34" charset="-122"/>
                <a:cs typeface="Georgia" pitchFamily="34" charset="-120"/>
              </a:rPr>
              <a:t>The penalty does not happen once.  It happens every 18.8 months.</a:t>
            </a:r>
            <a:endParaRPr lang="en-US" sz="2200" dirty="0"/>
          </a:p>
        </p:txBody>
      </p:sp>
      <p:sp>
        <p:nvSpPr>
          <p:cNvPr id="4" name="Shape 2"/>
          <p:cNvSpPr/>
          <p:nvPr/>
        </p:nvSpPr>
        <p:spPr>
          <a:xfrm>
            <a:off x="502920" y="1463040"/>
            <a:ext cx="2578608" cy="3337560"/>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5" name="Shape 3"/>
          <p:cNvSpPr/>
          <p:nvPr/>
        </p:nvSpPr>
        <p:spPr>
          <a:xfrm>
            <a:off x="502920" y="1463040"/>
            <a:ext cx="2578608" cy="73152"/>
          </a:xfrm>
          <a:prstGeom prst="rect">
            <a:avLst/>
          </a:prstGeom>
          <a:solidFill>
            <a:srgbClr val="B5342A"/>
          </a:solidFill>
          <a:ln w="12700">
            <a:solidFill>
              <a:srgbClr val="B5342A"/>
            </a:solidFill>
            <a:prstDash val="solid"/>
          </a:ln>
        </p:spPr>
        <p:txBody>
          <a:bodyPr/>
          <a:lstStyle/>
          <a:p>
            <a:endParaRPr lang="en-AU"/>
          </a:p>
        </p:txBody>
      </p:sp>
      <p:sp>
        <p:nvSpPr>
          <p:cNvPr id="6" name="Text 4"/>
          <p:cNvSpPr/>
          <p:nvPr/>
        </p:nvSpPr>
        <p:spPr>
          <a:xfrm>
            <a:off x="502920" y="1572768"/>
            <a:ext cx="2578608" cy="1005840"/>
          </a:xfrm>
          <a:prstGeom prst="rect">
            <a:avLst/>
          </a:prstGeom>
          <a:noFill/>
          <a:ln/>
        </p:spPr>
        <p:txBody>
          <a:bodyPr wrap="square" rtlCol="0" anchor="ctr"/>
          <a:lstStyle/>
          <a:p>
            <a:pPr marL="0" indent="0" algn="ctr">
              <a:buNone/>
            </a:pPr>
            <a:r>
              <a:rPr lang="en-US" sz="6400" b="1" dirty="0">
                <a:solidFill>
                  <a:srgbClr val="B5342A"/>
                </a:solidFill>
                <a:latin typeface="Georgia" pitchFamily="34" charset="0"/>
                <a:ea typeface="Georgia" pitchFamily="34" charset="-122"/>
                <a:cs typeface="Georgia" pitchFamily="34" charset="-120"/>
              </a:rPr>
              <a:t>564</a:t>
            </a:r>
            <a:endParaRPr lang="en-US" sz="6400" dirty="0"/>
          </a:p>
        </p:txBody>
      </p:sp>
      <p:sp>
        <p:nvSpPr>
          <p:cNvPr id="7" name="Text 5"/>
          <p:cNvSpPr/>
          <p:nvPr/>
        </p:nvSpPr>
        <p:spPr>
          <a:xfrm>
            <a:off x="502920" y="2560320"/>
            <a:ext cx="2578608" cy="347472"/>
          </a:xfrm>
          <a:prstGeom prst="rect">
            <a:avLst/>
          </a:prstGeom>
          <a:noFill/>
          <a:ln/>
        </p:spPr>
        <p:txBody>
          <a:bodyPr wrap="square" rtlCol="0" anchor="ctr"/>
          <a:lstStyle/>
          <a:p>
            <a:pPr marL="0" indent="0" algn="ctr">
              <a:buNone/>
            </a:pPr>
            <a:r>
              <a:rPr lang="en-US" sz="2000" b="1" dirty="0">
                <a:solidFill>
                  <a:srgbClr val="B5342A"/>
                </a:solidFill>
                <a:latin typeface="Georgia" pitchFamily="34" charset="0"/>
                <a:ea typeface="Georgia" pitchFamily="34" charset="-122"/>
                <a:cs typeface="Georgia" pitchFamily="34" charset="-120"/>
              </a:rPr>
              <a:t>days</a:t>
            </a:r>
            <a:endParaRPr lang="en-US" sz="2000" dirty="0"/>
          </a:p>
        </p:txBody>
      </p:sp>
      <p:sp>
        <p:nvSpPr>
          <p:cNvPr id="8" name="Text 6"/>
          <p:cNvSpPr/>
          <p:nvPr/>
        </p:nvSpPr>
        <p:spPr>
          <a:xfrm>
            <a:off x="640080" y="3017520"/>
            <a:ext cx="2304288" cy="411480"/>
          </a:xfrm>
          <a:prstGeom prst="rect">
            <a:avLst/>
          </a:prstGeom>
          <a:noFill/>
          <a:ln/>
        </p:spPr>
        <p:txBody>
          <a:bodyPr wrap="square" rtlCol="0" anchor="ctr"/>
          <a:lstStyle/>
          <a:p>
            <a:pPr marL="0" indent="0" algn="ctr">
              <a:buNone/>
            </a:pPr>
            <a:r>
              <a:rPr lang="en-US" sz="1200" b="1" dirty="0">
                <a:solidFill>
                  <a:srgbClr val="2B3A52"/>
                </a:solidFill>
                <a:latin typeface="Calibri" pitchFamily="34" charset="0"/>
                <a:ea typeface="Calibri" pitchFamily="34" charset="-122"/>
                <a:cs typeface="Calibri" pitchFamily="34" charset="-120"/>
              </a:rPr>
              <a:t>median NSW tenancy</a:t>
            </a:r>
            <a:endParaRPr lang="en-US" sz="1200" dirty="0"/>
          </a:p>
        </p:txBody>
      </p:sp>
      <p:sp>
        <p:nvSpPr>
          <p:cNvPr id="9" name="Text 7"/>
          <p:cNvSpPr/>
          <p:nvPr/>
        </p:nvSpPr>
        <p:spPr>
          <a:xfrm>
            <a:off x="640080" y="3520440"/>
            <a:ext cx="2304288" cy="1143000"/>
          </a:xfrm>
          <a:prstGeom prst="rect">
            <a:avLst/>
          </a:prstGeom>
          <a:noFill/>
          <a:ln/>
        </p:spPr>
        <p:txBody>
          <a:bodyPr wrap="square" rtlCol="0" anchor="ctr"/>
          <a:lstStyle/>
          <a:p>
            <a:pPr marL="0" indent="0" algn="l">
              <a:lnSpc>
                <a:spcPct val="130000"/>
              </a:lnSpc>
              <a:buNone/>
            </a:pPr>
            <a:r>
              <a:rPr lang="en-US" sz="1150" dirty="0">
                <a:solidFill>
                  <a:srgbClr val="3D5068"/>
                </a:solidFill>
                <a:latin typeface="Calibri" pitchFamily="34" charset="0"/>
                <a:ea typeface="Calibri" pitchFamily="34" charset="-122"/>
                <a:cs typeface="Calibri" pitchFamily="34" charset="-120"/>
              </a:rPr>
              <a:t>Roughly 18.8 months. Less than two years between bond hits.</a:t>
            </a:r>
            <a:endParaRPr lang="en-US" sz="1150" dirty="0"/>
          </a:p>
        </p:txBody>
      </p:sp>
      <p:sp>
        <p:nvSpPr>
          <p:cNvPr id="10" name="Shape 8"/>
          <p:cNvSpPr/>
          <p:nvPr/>
        </p:nvSpPr>
        <p:spPr>
          <a:xfrm>
            <a:off x="3172968" y="1463040"/>
            <a:ext cx="2578608" cy="3337560"/>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11" name="Shape 9"/>
          <p:cNvSpPr/>
          <p:nvPr/>
        </p:nvSpPr>
        <p:spPr>
          <a:xfrm>
            <a:off x="3172968" y="1463040"/>
            <a:ext cx="2578608" cy="73152"/>
          </a:xfrm>
          <a:prstGeom prst="rect">
            <a:avLst/>
          </a:prstGeom>
          <a:solidFill>
            <a:srgbClr val="B87333"/>
          </a:solidFill>
          <a:ln w="12700">
            <a:solidFill>
              <a:srgbClr val="B87333"/>
            </a:solidFill>
            <a:prstDash val="solid"/>
          </a:ln>
        </p:spPr>
        <p:txBody>
          <a:bodyPr/>
          <a:lstStyle/>
          <a:p>
            <a:endParaRPr lang="en-AU"/>
          </a:p>
        </p:txBody>
      </p:sp>
      <p:sp>
        <p:nvSpPr>
          <p:cNvPr id="12" name="Text 10"/>
          <p:cNvSpPr/>
          <p:nvPr/>
        </p:nvSpPr>
        <p:spPr>
          <a:xfrm>
            <a:off x="3172968" y="1572768"/>
            <a:ext cx="2578608" cy="1005840"/>
          </a:xfrm>
          <a:prstGeom prst="rect">
            <a:avLst/>
          </a:prstGeom>
          <a:noFill/>
          <a:ln/>
        </p:spPr>
        <p:txBody>
          <a:bodyPr wrap="square" rtlCol="0" anchor="ctr"/>
          <a:lstStyle/>
          <a:p>
            <a:pPr marL="0" indent="0" algn="ctr">
              <a:buNone/>
            </a:pPr>
            <a:r>
              <a:rPr lang="en-US" sz="6400" b="1" dirty="0">
                <a:solidFill>
                  <a:srgbClr val="B87333"/>
                </a:solidFill>
                <a:latin typeface="Georgia" pitchFamily="34" charset="0"/>
                <a:ea typeface="Georgia" pitchFamily="34" charset="-122"/>
                <a:cs typeface="Georgia" pitchFamily="34" charset="-120"/>
              </a:rPr>
              <a:t>30%</a:t>
            </a:r>
            <a:endParaRPr lang="en-US" sz="6400" dirty="0"/>
          </a:p>
        </p:txBody>
      </p:sp>
      <p:sp>
        <p:nvSpPr>
          <p:cNvPr id="13" name="Text 11"/>
          <p:cNvSpPr/>
          <p:nvPr/>
        </p:nvSpPr>
        <p:spPr>
          <a:xfrm>
            <a:off x="3310128" y="3017520"/>
            <a:ext cx="2304288" cy="411480"/>
          </a:xfrm>
          <a:prstGeom prst="rect">
            <a:avLst/>
          </a:prstGeom>
          <a:noFill/>
          <a:ln/>
        </p:spPr>
        <p:txBody>
          <a:bodyPr wrap="square" rtlCol="0" anchor="ctr"/>
          <a:lstStyle/>
          <a:p>
            <a:pPr marL="0" indent="0" algn="ctr">
              <a:buNone/>
            </a:pPr>
            <a:r>
              <a:rPr lang="en-US" sz="1200" b="1" dirty="0">
                <a:solidFill>
                  <a:srgbClr val="2B3A52"/>
                </a:solidFill>
                <a:latin typeface="Calibri" pitchFamily="34" charset="0"/>
                <a:ea typeface="Calibri" pitchFamily="34" charset="-122"/>
                <a:cs typeface="Calibri" pitchFamily="34" charset="-120"/>
              </a:rPr>
              <a:t>of tenancies end within a year</a:t>
            </a:r>
            <a:endParaRPr lang="en-US" sz="1200" dirty="0"/>
          </a:p>
        </p:txBody>
      </p:sp>
      <p:sp>
        <p:nvSpPr>
          <p:cNvPr id="14" name="Text 12"/>
          <p:cNvSpPr/>
          <p:nvPr/>
        </p:nvSpPr>
        <p:spPr>
          <a:xfrm>
            <a:off x="3310128" y="3520440"/>
            <a:ext cx="2304288" cy="1143000"/>
          </a:xfrm>
          <a:prstGeom prst="rect">
            <a:avLst/>
          </a:prstGeom>
          <a:noFill/>
          <a:ln/>
        </p:spPr>
        <p:txBody>
          <a:bodyPr wrap="square" rtlCol="0" anchor="ctr"/>
          <a:lstStyle/>
          <a:p>
            <a:pPr marL="0" indent="0" algn="l">
              <a:lnSpc>
                <a:spcPct val="130000"/>
              </a:lnSpc>
              <a:buNone/>
            </a:pPr>
            <a:r>
              <a:rPr lang="en-US" sz="1150" dirty="0">
                <a:solidFill>
                  <a:srgbClr val="3D5068"/>
                </a:solidFill>
                <a:latin typeface="Calibri" pitchFamily="34" charset="0"/>
                <a:ea typeface="Calibri" pitchFamily="34" charset="-122"/>
                <a:cs typeface="Calibri" pitchFamily="34" charset="-120"/>
              </a:rPr>
              <a:t>A renter on this cycle pays the bond penalty every single year.</a:t>
            </a:r>
            <a:endParaRPr lang="en-US" sz="1150" dirty="0"/>
          </a:p>
        </p:txBody>
      </p:sp>
      <p:sp>
        <p:nvSpPr>
          <p:cNvPr id="15" name="Shape 13"/>
          <p:cNvSpPr/>
          <p:nvPr/>
        </p:nvSpPr>
        <p:spPr>
          <a:xfrm>
            <a:off x="5843016" y="1463040"/>
            <a:ext cx="2578608" cy="3337560"/>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16" name="Shape 14"/>
          <p:cNvSpPr/>
          <p:nvPr/>
        </p:nvSpPr>
        <p:spPr>
          <a:xfrm>
            <a:off x="5843016" y="1463040"/>
            <a:ext cx="2578608" cy="73152"/>
          </a:xfrm>
          <a:prstGeom prst="rect">
            <a:avLst/>
          </a:prstGeom>
          <a:solidFill>
            <a:srgbClr val="3D5068"/>
          </a:solidFill>
          <a:ln w="12700">
            <a:solidFill>
              <a:srgbClr val="3D5068"/>
            </a:solidFill>
            <a:prstDash val="solid"/>
          </a:ln>
        </p:spPr>
        <p:txBody>
          <a:bodyPr/>
          <a:lstStyle/>
          <a:p>
            <a:endParaRPr lang="en-AU"/>
          </a:p>
        </p:txBody>
      </p:sp>
      <p:sp>
        <p:nvSpPr>
          <p:cNvPr id="17" name="Text 15"/>
          <p:cNvSpPr/>
          <p:nvPr/>
        </p:nvSpPr>
        <p:spPr>
          <a:xfrm>
            <a:off x="5843016" y="1572768"/>
            <a:ext cx="2578608" cy="1005840"/>
          </a:xfrm>
          <a:prstGeom prst="rect">
            <a:avLst/>
          </a:prstGeom>
          <a:noFill/>
          <a:ln/>
        </p:spPr>
        <p:txBody>
          <a:bodyPr wrap="square" rtlCol="0" anchor="ctr"/>
          <a:lstStyle/>
          <a:p>
            <a:pPr marL="0" indent="0" algn="ctr">
              <a:buNone/>
            </a:pPr>
            <a:r>
              <a:rPr lang="en-US" sz="6400" b="1" dirty="0">
                <a:solidFill>
                  <a:srgbClr val="3D5068"/>
                </a:solidFill>
                <a:latin typeface="Georgia" pitchFamily="34" charset="0"/>
                <a:ea typeface="Georgia" pitchFamily="34" charset="-122"/>
                <a:cs typeface="Georgia" pitchFamily="34" charset="-120"/>
              </a:rPr>
              <a:t>11%</a:t>
            </a:r>
            <a:endParaRPr lang="en-US" sz="6400" dirty="0"/>
          </a:p>
        </p:txBody>
      </p:sp>
      <p:sp>
        <p:nvSpPr>
          <p:cNvPr id="18" name="Text 16"/>
          <p:cNvSpPr/>
          <p:nvPr/>
        </p:nvSpPr>
        <p:spPr>
          <a:xfrm>
            <a:off x="5980176" y="3017520"/>
            <a:ext cx="2304288" cy="411480"/>
          </a:xfrm>
          <a:prstGeom prst="rect">
            <a:avLst/>
          </a:prstGeom>
          <a:noFill/>
          <a:ln/>
        </p:spPr>
        <p:txBody>
          <a:bodyPr wrap="square" rtlCol="0" anchor="ctr"/>
          <a:lstStyle/>
          <a:p>
            <a:pPr marL="0" indent="0" algn="ctr">
              <a:buNone/>
            </a:pPr>
            <a:r>
              <a:rPr lang="en-US" sz="1200" b="1" dirty="0">
                <a:solidFill>
                  <a:srgbClr val="2B3A52"/>
                </a:solidFill>
                <a:latin typeface="Calibri" pitchFamily="34" charset="0"/>
                <a:ea typeface="Calibri" pitchFamily="34" charset="-122"/>
                <a:cs typeface="Calibri" pitchFamily="34" charset="-120"/>
              </a:rPr>
              <a:t>of tenancies reach 5 years</a:t>
            </a:r>
            <a:endParaRPr lang="en-US" sz="1200" dirty="0"/>
          </a:p>
        </p:txBody>
      </p:sp>
      <p:sp>
        <p:nvSpPr>
          <p:cNvPr id="19" name="Text 17"/>
          <p:cNvSpPr/>
          <p:nvPr/>
        </p:nvSpPr>
        <p:spPr>
          <a:xfrm>
            <a:off x="5980176" y="3520440"/>
            <a:ext cx="2304288" cy="1143000"/>
          </a:xfrm>
          <a:prstGeom prst="rect">
            <a:avLst/>
          </a:prstGeom>
          <a:noFill/>
          <a:ln/>
        </p:spPr>
        <p:txBody>
          <a:bodyPr wrap="square" rtlCol="0" anchor="ctr"/>
          <a:lstStyle/>
          <a:p>
            <a:pPr marL="0" indent="0" algn="l">
              <a:lnSpc>
                <a:spcPct val="130000"/>
              </a:lnSpc>
              <a:buNone/>
            </a:pPr>
            <a:r>
              <a:rPr lang="en-US" sz="1150" dirty="0">
                <a:solidFill>
                  <a:srgbClr val="3D5068"/>
                </a:solidFill>
                <a:latin typeface="Calibri" pitchFamily="34" charset="0"/>
                <a:ea typeface="Calibri" pitchFamily="34" charset="-122"/>
                <a:cs typeface="Calibri" pitchFamily="34" charset="-120"/>
              </a:rPr>
              <a:t>Long-term stability is the exception, not the norm. An owner-occupier never faces this.</a:t>
            </a:r>
            <a:endParaRPr lang="en-US" sz="1150" dirty="0"/>
          </a:p>
        </p:txBody>
      </p:sp>
      <p:sp>
        <p:nvSpPr>
          <p:cNvPr id="20" name="Text 18"/>
          <p:cNvSpPr/>
          <p:nvPr/>
        </p:nvSpPr>
        <p:spPr>
          <a:xfrm>
            <a:off x="502920" y="4828032"/>
            <a:ext cx="8229600" cy="219456"/>
          </a:xfrm>
          <a:prstGeom prst="rect">
            <a:avLst/>
          </a:prstGeom>
          <a:noFill/>
          <a:ln/>
        </p:spPr>
        <p:txBody>
          <a:bodyPr wrap="square" rtlCol="0" anchor="ctr"/>
          <a:lstStyle/>
          <a:p>
            <a:pPr marL="0" indent="0">
              <a:buNone/>
            </a:pPr>
            <a:r>
              <a:rPr lang="en-US" sz="1000" b="1" i="1" dirty="0">
                <a:solidFill>
                  <a:srgbClr val="B5342A"/>
                </a:solidFill>
                <a:latin typeface="Calibri" pitchFamily="34" charset="0"/>
                <a:ea typeface="Calibri" pitchFamily="34" charset="-122"/>
                <a:cs typeface="Calibri" pitchFamily="34" charset="-120"/>
              </a:rPr>
              <a:t>An owner-occupier never takes this hit.  A renter in a squeezed postcode takes it again, and again, and again.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5F2"/>
        </a:solidFill>
        <a:effectLst/>
      </p:bgPr>
    </p:bg>
    <p:spTree>
      <p:nvGrpSpPr>
        <p:cNvPr id="1" name=""/>
        <p:cNvGrpSpPr/>
        <p:nvPr/>
      </p:nvGrpSpPr>
      <p:grpSpPr>
        <a:xfrm>
          <a:off x="0" y="0"/>
          <a:ext cx="0" cy="0"/>
          <a:chOff x="0" y="0"/>
          <a:chExt cx="0" cy="0"/>
        </a:xfrm>
      </p:grpSpPr>
      <p:sp>
        <p:nvSpPr>
          <p:cNvPr id="2" name="Text 0"/>
          <p:cNvSpPr/>
          <p:nvPr/>
        </p:nvSpPr>
        <p:spPr>
          <a:xfrm>
            <a:off x="502920" y="347472"/>
            <a:ext cx="3657600" cy="256032"/>
          </a:xfrm>
          <a:prstGeom prst="rect">
            <a:avLst/>
          </a:prstGeom>
          <a:noFill/>
          <a:ln/>
        </p:spPr>
        <p:txBody>
          <a:bodyPr wrap="square" rtlCol="0" anchor="ctr"/>
          <a:lstStyle/>
          <a:p>
            <a:pPr marL="0" indent="0">
              <a:buNone/>
            </a:pPr>
            <a:r>
              <a:rPr lang="en-US" sz="1000" b="1" kern="0" spc="300" dirty="0">
                <a:solidFill>
                  <a:srgbClr val="8A8680"/>
                </a:solidFill>
                <a:latin typeface="Calibri" pitchFamily="34" charset="0"/>
                <a:ea typeface="Calibri" pitchFamily="34" charset="-122"/>
                <a:cs typeface="Calibri" pitchFamily="34" charset="-120"/>
              </a:rPr>
              <a:t>05  |  THE PROTOTYPE</a:t>
            </a:r>
            <a:endParaRPr lang="en-US" sz="1000" dirty="0"/>
          </a:p>
        </p:txBody>
      </p:sp>
      <p:sp>
        <p:nvSpPr>
          <p:cNvPr id="3" name="Text 1"/>
          <p:cNvSpPr/>
          <p:nvPr/>
        </p:nvSpPr>
        <p:spPr>
          <a:xfrm>
            <a:off x="502920" y="658368"/>
            <a:ext cx="8229600" cy="548640"/>
          </a:xfrm>
          <a:prstGeom prst="rect">
            <a:avLst/>
          </a:prstGeom>
          <a:noFill/>
          <a:ln/>
        </p:spPr>
        <p:txBody>
          <a:bodyPr wrap="square" rtlCol="0" anchor="ctr"/>
          <a:lstStyle/>
          <a:p>
            <a:pPr marL="0" indent="0">
              <a:buNone/>
            </a:pPr>
            <a:r>
              <a:rPr lang="en-US" sz="2000" b="1" dirty="0">
                <a:solidFill>
                  <a:srgbClr val="2B3A52"/>
                </a:solidFill>
                <a:latin typeface="Georgia" pitchFamily="34" charset="0"/>
                <a:ea typeface="Georgia" pitchFamily="34" charset="-122"/>
                <a:cs typeface="Georgia" pitchFamily="34" charset="-120"/>
              </a:rPr>
              <a:t>A decision-support tool.  Not just a reporting dashboard.</a:t>
            </a:r>
            <a:endParaRPr lang="en-US" sz="2000" dirty="0"/>
          </a:p>
        </p:txBody>
      </p:sp>
      <p:sp>
        <p:nvSpPr>
          <p:cNvPr id="5" name="Text 2"/>
          <p:cNvSpPr/>
          <p:nvPr/>
        </p:nvSpPr>
        <p:spPr>
          <a:xfrm>
            <a:off x="502920" y="4645152"/>
            <a:ext cx="5440680" cy="201168"/>
          </a:xfrm>
          <a:prstGeom prst="rect">
            <a:avLst/>
          </a:prstGeom>
          <a:noFill/>
          <a:ln/>
        </p:spPr>
        <p:txBody>
          <a:bodyPr wrap="square" rtlCol="0" anchor="ctr"/>
          <a:lstStyle/>
          <a:p>
            <a:pPr marL="0" indent="0">
              <a:buNone/>
            </a:pPr>
            <a:r>
              <a:rPr lang="en-US" sz="900" i="1" dirty="0">
                <a:solidFill>
                  <a:srgbClr val="8A8680"/>
                </a:solidFill>
                <a:latin typeface="Calibri" pitchFamily="34" charset="0"/>
                <a:ea typeface="Calibri" pitchFamily="34" charset="-122"/>
                <a:cs typeface="Calibri" pitchFamily="34" charset="-120"/>
              </a:rPr>
              <a:t>tableau.com  &gt;  ”The Bond Penalty: Same System, Different Outcome"</a:t>
            </a:r>
            <a:endParaRPr lang="en-US" sz="900" dirty="0"/>
          </a:p>
        </p:txBody>
      </p:sp>
      <p:sp>
        <p:nvSpPr>
          <p:cNvPr id="6" name="Shape 3"/>
          <p:cNvSpPr/>
          <p:nvPr/>
        </p:nvSpPr>
        <p:spPr>
          <a:xfrm>
            <a:off x="6080760" y="1298448"/>
            <a:ext cx="2697480" cy="614477"/>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7" name="Shape 4"/>
          <p:cNvSpPr/>
          <p:nvPr/>
        </p:nvSpPr>
        <p:spPr>
          <a:xfrm>
            <a:off x="6080760" y="1298448"/>
            <a:ext cx="50292" cy="614477"/>
          </a:xfrm>
          <a:prstGeom prst="rect">
            <a:avLst/>
          </a:prstGeom>
          <a:solidFill>
            <a:srgbClr val="B5342A"/>
          </a:solidFill>
          <a:ln w="12700">
            <a:solidFill>
              <a:srgbClr val="B5342A"/>
            </a:solidFill>
            <a:prstDash val="solid"/>
          </a:ln>
        </p:spPr>
        <p:txBody>
          <a:bodyPr/>
          <a:lstStyle/>
          <a:p>
            <a:endParaRPr lang="en-AU"/>
          </a:p>
        </p:txBody>
      </p:sp>
      <p:sp>
        <p:nvSpPr>
          <p:cNvPr id="8" name="Text 5"/>
          <p:cNvSpPr/>
          <p:nvPr/>
        </p:nvSpPr>
        <p:spPr>
          <a:xfrm>
            <a:off x="6172200" y="1335024"/>
            <a:ext cx="2542032" cy="237744"/>
          </a:xfrm>
          <a:prstGeom prst="rect">
            <a:avLst/>
          </a:prstGeom>
          <a:noFill/>
          <a:ln/>
        </p:spPr>
        <p:txBody>
          <a:bodyPr wrap="square" rtlCol="0" anchor="ctr"/>
          <a:lstStyle/>
          <a:p>
            <a:pPr marL="0" indent="0">
              <a:buNone/>
            </a:pPr>
            <a:r>
              <a:rPr lang="en-US" sz="1050" b="1" dirty="0">
                <a:solidFill>
                  <a:srgbClr val="2B3A52"/>
                </a:solidFill>
                <a:latin typeface="Calibri" pitchFamily="34" charset="0"/>
                <a:ea typeface="Calibri" pitchFamily="34" charset="-122"/>
                <a:cs typeface="Calibri" pitchFamily="34" charset="-120"/>
              </a:rPr>
              <a:t>Bond loss by SEIFA decile</a:t>
            </a:r>
            <a:endParaRPr lang="en-US" sz="1050" dirty="0"/>
          </a:p>
        </p:txBody>
      </p:sp>
      <p:sp>
        <p:nvSpPr>
          <p:cNvPr id="9" name="Text 6"/>
          <p:cNvSpPr/>
          <p:nvPr/>
        </p:nvSpPr>
        <p:spPr>
          <a:xfrm>
            <a:off x="6172200" y="1572768"/>
            <a:ext cx="2542032" cy="285293"/>
          </a:xfrm>
          <a:prstGeom prst="rect">
            <a:avLst/>
          </a:prstGeom>
          <a:noFill/>
          <a:ln/>
        </p:spPr>
        <p:txBody>
          <a:bodyPr wrap="square" rtlCol="0" anchor="ctr"/>
          <a:lstStyle/>
          <a:p>
            <a:pPr marL="0" indent="0">
              <a:lnSpc>
                <a:spcPct val="120000"/>
              </a:lnSpc>
              <a:buNone/>
            </a:pPr>
            <a:r>
              <a:rPr lang="en-US" sz="950" dirty="0">
                <a:solidFill>
                  <a:srgbClr val="3D5068"/>
                </a:solidFill>
                <a:latin typeface="Calibri" pitchFamily="34" charset="0"/>
                <a:ea typeface="Calibri" pitchFamily="34" charset="-122"/>
                <a:cs typeface="Calibri" pitchFamily="34" charset="-120"/>
              </a:rPr>
              <a:t>The gradient across all 10 deciles. Monotonic, undeniable.</a:t>
            </a:r>
            <a:endParaRPr lang="en-US" sz="950" dirty="0"/>
          </a:p>
        </p:txBody>
      </p:sp>
      <p:sp>
        <p:nvSpPr>
          <p:cNvPr id="10" name="Shape 7"/>
          <p:cNvSpPr/>
          <p:nvPr/>
        </p:nvSpPr>
        <p:spPr>
          <a:xfrm>
            <a:off x="6080760" y="1967789"/>
            <a:ext cx="2697480" cy="614477"/>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11" name="Shape 8"/>
          <p:cNvSpPr/>
          <p:nvPr/>
        </p:nvSpPr>
        <p:spPr>
          <a:xfrm>
            <a:off x="6080760" y="1967789"/>
            <a:ext cx="50292" cy="614477"/>
          </a:xfrm>
          <a:prstGeom prst="rect">
            <a:avLst/>
          </a:prstGeom>
          <a:solidFill>
            <a:srgbClr val="B5342A"/>
          </a:solidFill>
          <a:ln w="12700">
            <a:solidFill>
              <a:srgbClr val="B5342A"/>
            </a:solidFill>
            <a:prstDash val="solid"/>
          </a:ln>
        </p:spPr>
        <p:txBody>
          <a:bodyPr/>
          <a:lstStyle/>
          <a:p>
            <a:endParaRPr lang="en-AU"/>
          </a:p>
        </p:txBody>
      </p:sp>
      <p:sp>
        <p:nvSpPr>
          <p:cNvPr id="12" name="Text 9"/>
          <p:cNvSpPr/>
          <p:nvPr/>
        </p:nvSpPr>
        <p:spPr>
          <a:xfrm>
            <a:off x="6172200" y="2004365"/>
            <a:ext cx="2542032" cy="237744"/>
          </a:xfrm>
          <a:prstGeom prst="rect">
            <a:avLst/>
          </a:prstGeom>
          <a:noFill/>
          <a:ln/>
        </p:spPr>
        <p:txBody>
          <a:bodyPr wrap="square" rtlCol="0" anchor="ctr"/>
          <a:lstStyle/>
          <a:p>
            <a:pPr marL="0" indent="0">
              <a:buNone/>
            </a:pPr>
            <a:r>
              <a:rPr lang="en-US" sz="1050" b="1" dirty="0">
                <a:solidFill>
                  <a:srgbClr val="2B3A52"/>
                </a:solidFill>
                <a:latin typeface="Calibri" pitchFamily="34" charset="0"/>
                <a:ea typeface="Calibri" pitchFamily="34" charset="-122"/>
                <a:cs typeface="Calibri" pitchFamily="34" charset="-120"/>
              </a:rPr>
              <a:t>Geography of Crisis map</a:t>
            </a:r>
            <a:endParaRPr lang="en-US" sz="1050" dirty="0"/>
          </a:p>
        </p:txBody>
      </p:sp>
      <p:sp>
        <p:nvSpPr>
          <p:cNvPr id="13" name="Text 10"/>
          <p:cNvSpPr/>
          <p:nvPr/>
        </p:nvSpPr>
        <p:spPr>
          <a:xfrm>
            <a:off x="6172200" y="2242109"/>
            <a:ext cx="2542032" cy="285293"/>
          </a:xfrm>
          <a:prstGeom prst="rect">
            <a:avLst/>
          </a:prstGeom>
          <a:noFill/>
          <a:ln/>
        </p:spPr>
        <p:txBody>
          <a:bodyPr wrap="square" rtlCol="0" anchor="ctr"/>
          <a:lstStyle/>
          <a:p>
            <a:pPr marL="0" indent="0">
              <a:lnSpc>
                <a:spcPct val="120000"/>
              </a:lnSpc>
              <a:buNone/>
            </a:pPr>
            <a:r>
              <a:rPr lang="en-US" sz="950" dirty="0">
                <a:solidFill>
                  <a:srgbClr val="3D5068"/>
                </a:solidFill>
                <a:latin typeface="Calibri" pitchFamily="34" charset="0"/>
                <a:ea typeface="Calibri" pitchFamily="34" charset="-122"/>
                <a:cs typeface="Calibri" pitchFamily="34" charset="-120"/>
              </a:rPr>
              <a:t>NSW postcode map. Red = where renters are stretched thinnest.</a:t>
            </a:r>
            <a:endParaRPr lang="en-US" sz="950" dirty="0"/>
          </a:p>
        </p:txBody>
      </p:sp>
      <p:sp>
        <p:nvSpPr>
          <p:cNvPr id="14" name="Shape 11"/>
          <p:cNvSpPr/>
          <p:nvPr/>
        </p:nvSpPr>
        <p:spPr>
          <a:xfrm>
            <a:off x="6080760" y="2637130"/>
            <a:ext cx="2697480" cy="614477"/>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15" name="Shape 12"/>
          <p:cNvSpPr/>
          <p:nvPr/>
        </p:nvSpPr>
        <p:spPr>
          <a:xfrm>
            <a:off x="6080760" y="2637130"/>
            <a:ext cx="50292" cy="614477"/>
          </a:xfrm>
          <a:prstGeom prst="rect">
            <a:avLst/>
          </a:prstGeom>
          <a:solidFill>
            <a:srgbClr val="B5342A"/>
          </a:solidFill>
          <a:ln w="12700">
            <a:solidFill>
              <a:srgbClr val="B5342A"/>
            </a:solidFill>
            <a:prstDash val="solid"/>
          </a:ln>
        </p:spPr>
        <p:txBody>
          <a:bodyPr/>
          <a:lstStyle/>
          <a:p>
            <a:endParaRPr lang="en-AU"/>
          </a:p>
        </p:txBody>
      </p:sp>
      <p:sp>
        <p:nvSpPr>
          <p:cNvPr id="16" name="Text 13"/>
          <p:cNvSpPr/>
          <p:nvPr/>
        </p:nvSpPr>
        <p:spPr>
          <a:xfrm>
            <a:off x="6172200" y="2673706"/>
            <a:ext cx="2542032" cy="237744"/>
          </a:xfrm>
          <a:prstGeom prst="rect">
            <a:avLst/>
          </a:prstGeom>
          <a:noFill/>
          <a:ln/>
        </p:spPr>
        <p:txBody>
          <a:bodyPr wrap="square" rtlCol="0" anchor="ctr"/>
          <a:lstStyle/>
          <a:p>
            <a:pPr marL="0" indent="0">
              <a:buNone/>
            </a:pPr>
            <a:r>
              <a:rPr lang="en-US" sz="1050" b="1" dirty="0">
                <a:solidFill>
                  <a:srgbClr val="2B3A52"/>
                </a:solidFill>
                <a:latin typeface="Calibri" pitchFamily="34" charset="0"/>
                <a:ea typeface="Calibri" pitchFamily="34" charset="-122"/>
                <a:cs typeface="Calibri" pitchFamily="34" charset="-120"/>
              </a:rPr>
              <a:t>Zero-choice suburbs</a:t>
            </a:r>
            <a:endParaRPr lang="en-US" sz="1050" dirty="0"/>
          </a:p>
        </p:txBody>
      </p:sp>
      <p:sp>
        <p:nvSpPr>
          <p:cNvPr id="17" name="Text 14"/>
          <p:cNvSpPr/>
          <p:nvPr/>
        </p:nvSpPr>
        <p:spPr>
          <a:xfrm>
            <a:off x="6172200" y="2911450"/>
            <a:ext cx="2542032" cy="285293"/>
          </a:xfrm>
          <a:prstGeom prst="rect">
            <a:avLst/>
          </a:prstGeom>
          <a:noFill/>
          <a:ln/>
        </p:spPr>
        <p:txBody>
          <a:bodyPr wrap="square" rtlCol="0" anchor="ctr"/>
          <a:lstStyle/>
          <a:p>
            <a:pPr marL="0" indent="0">
              <a:lnSpc>
                <a:spcPct val="120000"/>
              </a:lnSpc>
              <a:buNone/>
            </a:pPr>
            <a:r>
              <a:rPr lang="en-US" sz="950" dirty="0">
                <a:solidFill>
                  <a:srgbClr val="3D5068"/>
                </a:solidFill>
                <a:latin typeface="Calibri" pitchFamily="34" charset="0"/>
                <a:ea typeface="Calibri" pitchFamily="34" charset="-122"/>
                <a:cs typeface="Calibri" pitchFamily="34" charset="-120"/>
              </a:rPr>
              <a:t>23 specific postcodes named. High rent + disadvantaged SEIFA.</a:t>
            </a:r>
            <a:endParaRPr lang="en-US" sz="950" dirty="0"/>
          </a:p>
        </p:txBody>
      </p:sp>
      <p:sp>
        <p:nvSpPr>
          <p:cNvPr id="18" name="Shape 15"/>
          <p:cNvSpPr/>
          <p:nvPr/>
        </p:nvSpPr>
        <p:spPr>
          <a:xfrm>
            <a:off x="6080760" y="3306470"/>
            <a:ext cx="2697480" cy="614477"/>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19" name="Shape 16"/>
          <p:cNvSpPr/>
          <p:nvPr/>
        </p:nvSpPr>
        <p:spPr>
          <a:xfrm>
            <a:off x="6080760" y="3306470"/>
            <a:ext cx="50292" cy="614477"/>
          </a:xfrm>
          <a:prstGeom prst="rect">
            <a:avLst/>
          </a:prstGeom>
          <a:solidFill>
            <a:srgbClr val="B5342A"/>
          </a:solidFill>
          <a:ln w="12700">
            <a:solidFill>
              <a:srgbClr val="B5342A"/>
            </a:solidFill>
            <a:prstDash val="solid"/>
          </a:ln>
        </p:spPr>
        <p:txBody>
          <a:bodyPr/>
          <a:lstStyle/>
          <a:p>
            <a:endParaRPr lang="en-AU"/>
          </a:p>
        </p:txBody>
      </p:sp>
      <p:sp>
        <p:nvSpPr>
          <p:cNvPr id="20" name="Text 17"/>
          <p:cNvSpPr/>
          <p:nvPr/>
        </p:nvSpPr>
        <p:spPr>
          <a:xfrm>
            <a:off x="6172200" y="3343046"/>
            <a:ext cx="2542032" cy="237744"/>
          </a:xfrm>
          <a:prstGeom prst="rect">
            <a:avLst/>
          </a:prstGeom>
          <a:noFill/>
          <a:ln/>
        </p:spPr>
        <p:txBody>
          <a:bodyPr wrap="square" rtlCol="0" anchor="ctr"/>
          <a:lstStyle/>
          <a:p>
            <a:pPr marL="0" indent="0">
              <a:buNone/>
            </a:pPr>
            <a:r>
              <a:rPr lang="en-US" sz="1050" b="1" dirty="0">
                <a:solidFill>
                  <a:srgbClr val="2B3A52"/>
                </a:solidFill>
                <a:latin typeface="Calibri" pitchFamily="34" charset="0"/>
                <a:ea typeface="Calibri" pitchFamily="34" charset="-122"/>
                <a:cs typeface="Calibri" pitchFamily="34" charset="-120"/>
              </a:rPr>
              <a:t>No Escape scatterplot</a:t>
            </a:r>
            <a:endParaRPr lang="en-US" sz="1050" dirty="0"/>
          </a:p>
        </p:txBody>
      </p:sp>
      <p:sp>
        <p:nvSpPr>
          <p:cNvPr id="21" name="Text 18"/>
          <p:cNvSpPr/>
          <p:nvPr/>
        </p:nvSpPr>
        <p:spPr>
          <a:xfrm>
            <a:off x="6172200" y="3580790"/>
            <a:ext cx="2542032" cy="285293"/>
          </a:xfrm>
          <a:prstGeom prst="rect">
            <a:avLst/>
          </a:prstGeom>
          <a:noFill/>
          <a:ln/>
        </p:spPr>
        <p:txBody>
          <a:bodyPr wrap="square" rtlCol="0" anchor="ctr"/>
          <a:lstStyle/>
          <a:p>
            <a:pPr marL="0" indent="0">
              <a:lnSpc>
                <a:spcPct val="120000"/>
              </a:lnSpc>
              <a:buNone/>
            </a:pPr>
            <a:r>
              <a:rPr lang="en-US" sz="950" dirty="0">
                <a:solidFill>
                  <a:srgbClr val="3D5068"/>
                </a:solidFill>
                <a:latin typeface="Calibri" pitchFamily="34" charset="0"/>
                <a:ea typeface="Calibri" pitchFamily="34" charset="-122"/>
                <a:cs typeface="Calibri" pitchFamily="34" charset="-120"/>
              </a:rPr>
              <a:t>Rent vs disadvantage for 636 postcodes. The squeezed cluster is visible instantly.</a:t>
            </a:r>
            <a:endParaRPr lang="en-US" sz="950" dirty="0"/>
          </a:p>
        </p:txBody>
      </p:sp>
      <p:sp>
        <p:nvSpPr>
          <p:cNvPr id="22" name="Shape 19"/>
          <p:cNvSpPr/>
          <p:nvPr/>
        </p:nvSpPr>
        <p:spPr>
          <a:xfrm>
            <a:off x="6080760" y="3975811"/>
            <a:ext cx="2697480" cy="614477"/>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23" name="Shape 20"/>
          <p:cNvSpPr/>
          <p:nvPr/>
        </p:nvSpPr>
        <p:spPr>
          <a:xfrm>
            <a:off x="6080760" y="3975811"/>
            <a:ext cx="50292" cy="614477"/>
          </a:xfrm>
          <a:prstGeom prst="rect">
            <a:avLst/>
          </a:prstGeom>
          <a:solidFill>
            <a:srgbClr val="B5342A"/>
          </a:solidFill>
          <a:ln w="12700">
            <a:solidFill>
              <a:srgbClr val="B5342A"/>
            </a:solidFill>
            <a:prstDash val="solid"/>
          </a:ln>
        </p:spPr>
        <p:txBody>
          <a:bodyPr/>
          <a:lstStyle/>
          <a:p>
            <a:endParaRPr lang="en-AU"/>
          </a:p>
        </p:txBody>
      </p:sp>
      <p:sp>
        <p:nvSpPr>
          <p:cNvPr id="24" name="Text 21"/>
          <p:cNvSpPr/>
          <p:nvPr/>
        </p:nvSpPr>
        <p:spPr>
          <a:xfrm>
            <a:off x="6172200" y="4012387"/>
            <a:ext cx="2542032" cy="237744"/>
          </a:xfrm>
          <a:prstGeom prst="rect">
            <a:avLst/>
          </a:prstGeom>
          <a:noFill/>
          <a:ln/>
        </p:spPr>
        <p:txBody>
          <a:bodyPr wrap="square" rtlCol="0" anchor="ctr"/>
          <a:lstStyle/>
          <a:p>
            <a:pPr marL="0" indent="0">
              <a:buNone/>
            </a:pPr>
            <a:r>
              <a:rPr lang="en-US" sz="1050" b="1" dirty="0">
                <a:solidFill>
                  <a:srgbClr val="2B3A52"/>
                </a:solidFill>
                <a:latin typeface="Calibri" pitchFamily="34" charset="0"/>
                <a:ea typeface="Calibri" pitchFamily="34" charset="-122"/>
                <a:cs typeface="Calibri" pitchFamily="34" charset="-120"/>
              </a:rPr>
              <a:t>Essential worker curve</a:t>
            </a:r>
            <a:endParaRPr lang="en-US" sz="1050" dirty="0"/>
          </a:p>
        </p:txBody>
      </p:sp>
      <p:sp>
        <p:nvSpPr>
          <p:cNvPr id="25" name="Text 22"/>
          <p:cNvSpPr/>
          <p:nvPr/>
        </p:nvSpPr>
        <p:spPr>
          <a:xfrm>
            <a:off x="6172200" y="4250131"/>
            <a:ext cx="2542032" cy="285293"/>
          </a:xfrm>
          <a:prstGeom prst="rect">
            <a:avLst/>
          </a:prstGeom>
          <a:noFill/>
          <a:ln/>
        </p:spPr>
        <p:txBody>
          <a:bodyPr wrap="square" rtlCol="0" anchor="ctr"/>
          <a:lstStyle/>
          <a:p>
            <a:pPr marL="0" indent="0">
              <a:lnSpc>
                <a:spcPct val="120000"/>
              </a:lnSpc>
              <a:buNone/>
            </a:pPr>
            <a:r>
              <a:rPr lang="en-US" sz="950" dirty="0">
                <a:solidFill>
                  <a:srgbClr val="3D5068"/>
                </a:solidFill>
                <a:latin typeface="Calibri" pitchFamily="34" charset="0"/>
                <a:ea typeface="Calibri" pitchFamily="34" charset="-122"/>
                <a:cs typeface="Calibri" pitchFamily="34" charset="-120"/>
              </a:rPr>
              <a:t>Budget slider: drag to $480/wk -- nurse salary -- watch the map turn red.</a:t>
            </a:r>
            <a:endParaRPr lang="en-US" sz="950" dirty="0"/>
          </a:p>
        </p:txBody>
      </p:sp>
      <p:pic>
        <p:nvPicPr>
          <p:cNvPr id="27" name="Picture 26">
            <a:extLst>
              <a:ext uri="{FF2B5EF4-FFF2-40B4-BE49-F238E27FC236}">
                <a16:creationId xmlns:a16="http://schemas.microsoft.com/office/drawing/2014/main" id="{56744A39-2AE9-5B70-6417-ACDBCB114E9A}"/>
              </a:ext>
            </a:extLst>
          </p:cNvPr>
          <p:cNvPicPr>
            <a:picLocks noChangeAspect="1"/>
          </p:cNvPicPr>
          <p:nvPr/>
        </p:nvPicPr>
        <p:blipFill>
          <a:blip r:embed="rId3"/>
          <a:stretch>
            <a:fillRect/>
          </a:stretch>
        </p:blipFill>
        <p:spPr>
          <a:xfrm>
            <a:off x="502920" y="1298448"/>
            <a:ext cx="5440680" cy="3291840"/>
          </a:xfrm>
          <a:prstGeom prst="rect">
            <a:avLst/>
          </a:prstGeom>
        </p:spPr>
      </p:pic>
      <p:sp>
        <p:nvSpPr>
          <p:cNvPr id="4" name="TextBox 3">
            <a:extLst>
              <a:ext uri="{FF2B5EF4-FFF2-40B4-BE49-F238E27FC236}">
                <a16:creationId xmlns:a16="http://schemas.microsoft.com/office/drawing/2014/main" id="{1422560E-56DA-9F14-E784-D7157D39DCAF}"/>
              </a:ext>
            </a:extLst>
          </p:cNvPr>
          <p:cNvSpPr txBox="1"/>
          <p:nvPr/>
        </p:nvSpPr>
        <p:spPr>
          <a:xfrm>
            <a:off x="502920" y="4796028"/>
            <a:ext cx="8275319" cy="923330"/>
          </a:xfrm>
          <a:prstGeom prst="rect">
            <a:avLst/>
          </a:prstGeom>
          <a:noFill/>
        </p:spPr>
        <p:txBody>
          <a:bodyPr wrap="square" rtlCol="0">
            <a:spAutoFit/>
          </a:bodyPr>
          <a:lstStyle/>
          <a:p>
            <a:r>
              <a:rPr lang="en-US" dirty="0">
                <a:hlinkClick r:id="rId4"/>
              </a:rPr>
              <a:t>https://public.tableau.com/app/profile/md.abtab.karim.kabbo/viz/TheRentersTaxNSW/Dashboard1?publish=yes</a:t>
            </a: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5F2"/>
        </a:solidFill>
        <a:effectLst/>
      </p:bgPr>
    </p:bg>
    <p:spTree>
      <p:nvGrpSpPr>
        <p:cNvPr id="1" name=""/>
        <p:cNvGrpSpPr/>
        <p:nvPr/>
      </p:nvGrpSpPr>
      <p:grpSpPr>
        <a:xfrm>
          <a:off x="0" y="0"/>
          <a:ext cx="0" cy="0"/>
          <a:chOff x="0" y="0"/>
          <a:chExt cx="0" cy="0"/>
        </a:xfrm>
      </p:grpSpPr>
      <p:sp>
        <p:nvSpPr>
          <p:cNvPr id="2" name="Text 0"/>
          <p:cNvSpPr/>
          <p:nvPr/>
        </p:nvSpPr>
        <p:spPr>
          <a:xfrm>
            <a:off x="502920" y="347472"/>
            <a:ext cx="4572000" cy="256032"/>
          </a:xfrm>
          <a:prstGeom prst="rect">
            <a:avLst/>
          </a:prstGeom>
          <a:noFill/>
          <a:ln/>
        </p:spPr>
        <p:txBody>
          <a:bodyPr wrap="square" rtlCol="0" anchor="ctr"/>
          <a:lstStyle/>
          <a:p>
            <a:pPr marL="0" indent="0">
              <a:buNone/>
            </a:pPr>
            <a:r>
              <a:rPr lang="en-US" sz="1000" b="1" kern="0" spc="300" dirty="0">
                <a:solidFill>
                  <a:srgbClr val="8A8680"/>
                </a:solidFill>
                <a:latin typeface="Calibri" pitchFamily="34" charset="0"/>
                <a:ea typeface="Calibri" pitchFamily="34" charset="-122"/>
                <a:cs typeface="Calibri" pitchFamily="34" charset="-120"/>
              </a:rPr>
              <a:t>06  |  THE FIX</a:t>
            </a:r>
            <a:endParaRPr lang="en-US" sz="1000" dirty="0"/>
          </a:p>
        </p:txBody>
      </p:sp>
      <p:sp>
        <p:nvSpPr>
          <p:cNvPr id="3" name="Text 1"/>
          <p:cNvSpPr/>
          <p:nvPr/>
        </p:nvSpPr>
        <p:spPr>
          <a:xfrm>
            <a:off x="502920" y="658368"/>
            <a:ext cx="8229600" cy="566928"/>
          </a:xfrm>
          <a:prstGeom prst="rect">
            <a:avLst/>
          </a:prstGeom>
          <a:noFill/>
          <a:ln/>
        </p:spPr>
        <p:txBody>
          <a:bodyPr wrap="square" rtlCol="0" anchor="ctr"/>
          <a:lstStyle/>
          <a:p>
            <a:pPr marL="0" indent="0">
              <a:buNone/>
            </a:pPr>
            <a:r>
              <a:rPr lang="en-US" sz="2000" b="1" dirty="0">
                <a:solidFill>
                  <a:srgbClr val="2B3A52"/>
                </a:solidFill>
                <a:latin typeface="Georgia" pitchFamily="34" charset="0"/>
                <a:ea typeface="Georgia" pitchFamily="34" charset="-122"/>
                <a:cs typeface="Georgia" pitchFamily="34" charset="-120"/>
              </a:rPr>
              <a:t>Three implementation-ready actions within the Minister's existing authority.</a:t>
            </a:r>
            <a:endParaRPr lang="en-US" sz="2000" dirty="0"/>
          </a:p>
        </p:txBody>
      </p:sp>
      <p:sp>
        <p:nvSpPr>
          <p:cNvPr id="4" name="Shape 2"/>
          <p:cNvSpPr/>
          <p:nvPr/>
        </p:nvSpPr>
        <p:spPr>
          <a:xfrm>
            <a:off x="502920" y="1371600"/>
            <a:ext cx="2578608" cy="3493008"/>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5" name="Shape 3"/>
          <p:cNvSpPr/>
          <p:nvPr/>
        </p:nvSpPr>
        <p:spPr>
          <a:xfrm>
            <a:off x="502920" y="1371600"/>
            <a:ext cx="2578608" cy="411480"/>
          </a:xfrm>
          <a:prstGeom prst="rect">
            <a:avLst/>
          </a:prstGeom>
          <a:solidFill>
            <a:srgbClr val="B5342A"/>
          </a:solidFill>
          <a:ln w="12700">
            <a:solidFill>
              <a:srgbClr val="B5342A"/>
            </a:solidFill>
            <a:prstDash val="solid"/>
          </a:ln>
        </p:spPr>
        <p:txBody>
          <a:bodyPr/>
          <a:lstStyle/>
          <a:p>
            <a:endParaRPr lang="en-AU"/>
          </a:p>
        </p:txBody>
      </p:sp>
      <p:sp>
        <p:nvSpPr>
          <p:cNvPr id="6" name="Text 4"/>
          <p:cNvSpPr/>
          <p:nvPr/>
        </p:nvSpPr>
        <p:spPr>
          <a:xfrm>
            <a:off x="502920" y="1371600"/>
            <a:ext cx="2578608"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NOW  |  0-3 months</a:t>
            </a:r>
            <a:endParaRPr lang="en-US" sz="1100" dirty="0"/>
          </a:p>
        </p:txBody>
      </p:sp>
      <p:sp>
        <p:nvSpPr>
          <p:cNvPr id="7" name="Text 5"/>
          <p:cNvSpPr/>
          <p:nvPr/>
        </p:nvSpPr>
        <p:spPr>
          <a:xfrm>
            <a:off x="612648" y="1847088"/>
            <a:ext cx="2377440" cy="502920"/>
          </a:xfrm>
          <a:prstGeom prst="rect">
            <a:avLst/>
          </a:prstGeom>
          <a:noFill/>
          <a:ln/>
        </p:spPr>
        <p:txBody>
          <a:bodyPr wrap="square" rtlCol="0" anchor="ctr"/>
          <a:lstStyle/>
          <a:p>
            <a:pPr marL="0" indent="0">
              <a:buNone/>
            </a:pPr>
            <a:r>
              <a:rPr lang="en-US" sz="1350" b="1" dirty="0">
                <a:solidFill>
                  <a:srgbClr val="2B3A52"/>
                </a:solidFill>
                <a:latin typeface="Georgia" pitchFamily="34" charset="0"/>
                <a:ea typeface="Georgia" pitchFamily="34" charset="-122"/>
                <a:cs typeface="Georgia" pitchFamily="34" charset="-120"/>
              </a:rPr>
              <a:t>Mandatory itemised deductions</a:t>
            </a:r>
            <a:endParaRPr lang="en-US" sz="1350" dirty="0"/>
          </a:p>
        </p:txBody>
      </p:sp>
      <p:sp>
        <p:nvSpPr>
          <p:cNvPr id="8" name="Text 6"/>
          <p:cNvSpPr/>
          <p:nvPr/>
        </p:nvSpPr>
        <p:spPr>
          <a:xfrm>
            <a:off x="612648" y="2423160"/>
            <a:ext cx="2377440" cy="201168"/>
          </a:xfrm>
          <a:prstGeom prst="rect">
            <a:avLst/>
          </a:prstGeom>
          <a:noFill/>
          <a:ln/>
        </p:spPr>
        <p:txBody>
          <a:bodyPr wrap="square" rtlCol="0" anchor="ctr"/>
          <a:lstStyle/>
          <a:p>
            <a:pPr marL="0" indent="0">
              <a:buNone/>
            </a:pPr>
            <a:r>
              <a:rPr lang="en-US" sz="800" b="1" kern="0" spc="200" dirty="0">
                <a:solidFill>
                  <a:srgbClr val="8A8680"/>
                </a:solidFill>
                <a:latin typeface="Calibri" pitchFamily="34" charset="0"/>
                <a:ea typeface="Calibri" pitchFamily="34" charset="-122"/>
                <a:cs typeface="Calibri" pitchFamily="34" charset="-120"/>
              </a:rPr>
              <a:t>MECHANISM</a:t>
            </a:r>
            <a:endParaRPr lang="en-US" sz="800" dirty="0"/>
          </a:p>
        </p:txBody>
      </p:sp>
      <p:sp>
        <p:nvSpPr>
          <p:cNvPr id="9" name="Text 7"/>
          <p:cNvSpPr/>
          <p:nvPr/>
        </p:nvSpPr>
        <p:spPr>
          <a:xfrm>
            <a:off x="612648" y="2624328"/>
            <a:ext cx="2377440" cy="1508760"/>
          </a:xfrm>
          <a:prstGeom prst="rect">
            <a:avLst/>
          </a:prstGeom>
          <a:noFill/>
          <a:ln/>
        </p:spPr>
        <p:txBody>
          <a:bodyPr wrap="square" rtlCol="0" anchor="ctr"/>
          <a:lstStyle/>
          <a:p>
            <a:pPr marL="0" indent="0">
              <a:lnSpc>
                <a:spcPct val="130000"/>
              </a:lnSpc>
              <a:buNone/>
            </a:pPr>
            <a:r>
              <a:rPr lang="en-US" sz="1100" dirty="0">
                <a:solidFill>
                  <a:srgbClr val="3D5068"/>
                </a:solidFill>
                <a:latin typeface="Calibri" pitchFamily="34" charset="0"/>
                <a:ea typeface="Calibri" pitchFamily="34" charset="-122"/>
                <a:cs typeface="Calibri" pitchFamily="34" charset="-120"/>
              </a:rPr>
              <a:t>Amend Residential Tenancies Regulation 2019, Schedule 1. Order-in-Council -- no legislation required.</a:t>
            </a:r>
            <a:endParaRPr lang="en-US" sz="1100" dirty="0"/>
          </a:p>
        </p:txBody>
      </p:sp>
      <p:sp>
        <p:nvSpPr>
          <p:cNvPr id="10" name="Shape 8"/>
          <p:cNvSpPr/>
          <p:nvPr/>
        </p:nvSpPr>
        <p:spPr>
          <a:xfrm>
            <a:off x="502920" y="4480560"/>
            <a:ext cx="2578608" cy="347472"/>
          </a:xfrm>
          <a:prstGeom prst="rect">
            <a:avLst/>
          </a:prstGeom>
          <a:solidFill>
            <a:srgbClr val="EBF0F6"/>
          </a:solidFill>
          <a:ln w="12700">
            <a:solidFill>
              <a:srgbClr val="DEDAD6"/>
            </a:solidFill>
            <a:prstDash val="solid"/>
          </a:ln>
        </p:spPr>
        <p:txBody>
          <a:bodyPr/>
          <a:lstStyle/>
          <a:p>
            <a:endParaRPr lang="en-AU"/>
          </a:p>
        </p:txBody>
      </p:sp>
      <p:sp>
        <p:nvSpPr>
          <p:cNvPr id="11" name="Text 9"/>
          <p:cNvSpPr/>
          <p:nvPr/>
        </p:nvSpPr>
        <p:spPr>
          <a:xfrm>
            <a:off x="502920" y="4480560"/>
            <a:ext cx="2578608" cy="347472"/>
          </a:xfrm>
          <a:prstGeom prst="rect">
            <a:avLst/>
          </a:prstGeom>
          <a:noFill/>
          <a:ln/>
        </p:spPr>
        <p:txBody>
          <a:bodyPr wrap="square" lIns="0" tIns="0" rIns="0" bIns="0" rtlCol="0" anchor="ctr"/>
          <a:lstStyle/>
          <a:p>
            <a:pPr marL="0" indent="0" algn="ctr">
              <a:buNone/>
            </a:pPr>
            <a:r>
              <a:rPr lang="en-US" sz="900" b="1" dirty="0">
                <a:solidFill>
                  <a:srgbClr val="3D5068"/>
                </a:solidFill>
                <a:latin typeface="Calibri" pitchFamily="34" charset="0"/>
                <a:ea typeface="Calibri" pitchFamily="34" charset="-122"/>
                <a:cs typeface="Calibri" pitchFamily="34" charset="-120"/>
              </a:rPr>
              <a:t>100% of bond claims itemised</a:t>
            </a:r>
            <a:endParaRPr lang="en-US" sz="900" dirty="0"/>
          </a:p>
        </p:txBody>
      </p:sp>
      <p:sp>
        <p:nvSpPr>
          <p:cNvPr id="12" name="Shape 10"/>
          <p:cNvSpPr/>
          <p:nvPr/>
        </p:nvSpPr>
        <p:spPr>
          <a:xfrm>
            <a:off x="3172968" y="1371600"/>
            <a:ext cx="2578608" cy="3493008"/>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13" name="Shape 11"/>
          <p:cNvSpPr/>
          <p:nvPr/>
        </p:nvSpPr>
        <p:spPr>
          <a:xfrm>
            <a:off x="3172968" y="1371600"/>
            <a:ext cx="2578608" cy="411480"/>
          </a:xfrm>
          <a:prstGeom prst="rect">
            <a:avLst/>
          </a:prstGeom>
          <a:solidFill>
            <a:srgbClr val="B87333"/>
          </a:solidFill>
          <a:ln w="12700">
            <a:solidFill>
              <a:srgbClr val="B87333"/>
            </a:solidFill>
            <a:prstDash val="solid"/>
          </a:ln>
        </p:spPr>
        <p:txBody>
          <a:bodyPr/>
          <a:lstStyle/>
          <a:p>
            <a:endParaRPr lang="en-AU"/>
          </a:p>
        </p:txBody>
      </p:sp>
      <p:sp>
        <p:nvSpPr>
          <p:cNvPr id="14" name="Text 12"/>
          <p:cNvSpPr/>
          <p:nvPr/>
        </p:nvSpPr>
        <p:spPr>
          <a:xfrm>
            <a:off x="3172968" y="1371600"/>
            <a:ext cx="2578608"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THIS YEAR  |  3-12 months</a:t>
            </a:r>
            <a:endParaRPr lang="en-US" sz="1100" dirty="0"/>
          </a:p>
        </p:txBody>
      </p:sp>
      <p:sp>
        <p:nvSpPr>
          <p:cNvPr id="15" name="Text 13"/>
          <p:cNvSpPr/>
          <p:nvPr/>
        </p:nvSpPr>
        <p:spPr>
          <a:xfrm>
            <a:off x="3282696" y="1847088"/>
            <a:ext cx="2377440" cy="502920"/>
          </a:xfrm>
          <a:prstGeom prst="rect">
            <a:avLst/>
          </a:prstGeom>
          <a:noFill/>
          <a:ln/>
        </p:spPr>
        <p:txBody>
          <a:bodyPr wrap="square" rtlCol="0" anchor="ctr"/>
          <a:lstStyle/>
          <a:p>
            <a:pPr marL="0" indent="0">
              <a:buNone/>
            </a:pPr>
            <a:r>
              <a:rPr lang="en-US" sz="1350" b="1" dirty="0">
                <a:solidFill>
                  <a:srgbClr val="2B3A52"/>
                </a:solidFill>
                <a:latin typeface="Georgia" pitchFamily="34" charset="0"/>
                <a:ea typeface="Georgia" pitchFamily="34" charset="-122"/>
                <a:cs typeface="Georgia" pitchFamily="34" charset="-120"/>
              </a:rPr>
              <a:t>Quarterly public reporting</a:t>
            </a:r>
            <a:endParaRPr lang="en-US" sz="1350" dirty="0"/>
          </a:p>
        </p:txBody>
      </p:sp>
      <p:sp>
        <p:nvSpPr>
          <p:cNvPr id="16" name="Text 14"/>
          <p:cNvSpPr/>
          <p:nvPr/>
        </p:nvSpPr>
        <p:spPr>
          <a:xfrm>
            <a:off x="3282696" y="2423160"/>
            <a:ext cx="2377440" cy="201168"/>
          </a:xfrm>
          <a:prstGeom prst="rect">
            <a:avLst/>
          </a:prstGeom>
          <a:noFill/>
          <a:ln/>
        </p:spPr>
        <p:txBody>
          <a:bodyPr wrap="square" rtlCol="0" anchor="ctr"/>
          <a:lstStyle/>
          <a:p>
            <a:pPr marL="0" indent="0">
              <a:buNone/>
            </a:pPr>
            <a:r>
              <a:rPr lang="en-US" sz="800" b="1" kern="0" spc="200" dirty="0">
                <a:solidFill>
                  <a:srgbClr val="8A8680"/>
                </a:solidFill>
                <a:latin typeface="Calibri" pitchFamily="34" charset="0"/>
                <a:ea typeface="Calibri" pitchFamily="34" charset="-122"/>
                <a:cs typeface="Calibri" pitchFamily="34" charset="-120"/>
              </a:rPr>
              <a:t>MECHANISM</a:t>
            </a:r>
            <a:endParaRPr lang="en-US" sz="800" dirty="0"/>
          </a:p>
        </p:txBody>
      </p:sp>
      <p:sp>
        <p:nvSpPr>
          <p:cNvPr id="17" name="Text 15"/>
          <p:cNvSpPr/>
          <p:nvPr/>
        </p:nvSpPr>
        <p:spPr>
          <a:xfrm>
            <a:off x="3282696" y="2624328"/>
            <a:ext cx="2377440" cy="1508760"/>
          </a:xfrm>
          <a:prstGeom prst="rect">
            <a:avLst/>
          </a:prstGeom>
          <a:noFill/>
          <a:ln/>
        </p:spPr>
        <p:txBody>
          <a:bodyPr wrap="square" rtlCol="0" anchor="ctr"/>
          <a:lstStyle/>
          <a:p>
            <a:pPr marL="0" indent="0">
              <a:lnSpc>
                <a:spcPct val="130000"/>
              </a:lnSpc>
              <a:buNone/>
            </a:pPr>
            <a:r>
              <a:rPr lang="en-US" sz="1100" dirty="0">
                <a:solidFill>
                  <a:srgbClr val="3D5068"/>
                </a:solidFill>
                <a:latin typeface="Calibri" pitchFamily="34" charset="0"/>
                <a:ea typeface="Calibri" pitchFamily="34" charset="-122"/>
                <a:cs typeface="Calibri" pitchFamily="34" charset="-120"/>
              </a:rPr>
              <a:t>Departmental reporting directive. Publish bond outcome rates by postcode to the NSW Open Data Portal each quarter.</a:t>
            </a:r>
            <a:endParaRPr lang="en-US" sz="1100" dirty="0"/>
          </a:p>
        </p:txBody>
      </p:sp>
      <p:sp>
        <p:nvSpPr>
          <p:cNvPr id="18" name="Shape 16"/>
          <p:cNvSpPr/>
          <p:nvPr/>
        </p:nvSpPr>
        <p:spPr>
          <a:xfrm>
            <a:off x="3172968" y="4480560"/>
            <a:ext cx="2578608" cy="347472"/>
          </a:xfrm>
          <a:prstGeom prst="rect">
            <a:avLst/>
          </a:prstGeom>
          <a:solidFill>
            <a:srgbClr val="EBF0F6"/>
          </a:solidFill>
          <a:ln w="12700">
            <a:solidFill>
              <a:srgbClr val="DEDAD6"/>
            </a:solidFill>
            <a:prstDash val="solid"/>
          </a:ln>
        </p:spPr>
        <p:txBody>
          <a:bodyPr/>
          <a:lstStyle/>
          <a:p>
            <a:endParaRPr lang="en-AU"/>
          </a:p>
        </p:txBody>
      </p:sp>
      <p:sp>
        <p:nvSpPr>
          <p:cNvPr id="19" name="Text 17"/>
          <p:cNvSpPr/>
          <p:nvPr/>
        </p:nvSpPr>
        <p:spPr>
          <a:xfrm>
            <a:off x="3172968" y="4480560"/>
            <a:ext cx="2578608" cy="347472"/>
          </a:xfrm>
          <a:prstGeom prst="rect">
            <a:avLst/>
          </a:prstGeom>
          <a:noFill/>
          <a:ln/>
        </p:spPr>
        <p:txBody>
          <a:bodyPr wrap="square" lIns="0" tIns="0" rIns="0" bIns="0" rtlCol="0" anchor="ctr"/>
          <a:lstStyle/>
          <a:p>
            <a:pPr marL="0" indent="0" algn="ctr">
              <a:buNone/>
            </a:pPr>
            <a:r>
              <a:rPr lang="en-US" sz="900" b="1" dirty="0">
                <a:solidFill>
                  <a:srgbClr val="3D5068"/>
                </a:solidFill>
                <a:latin typeface="Calibri" pitchFamily="34" charset="0"/>
                <a:ea typeface="Calibri" pitchFamily="34" charset="-122"/>
                <a:cs typeface="Calibri" pitchFamily="34" charset="-120"/>
              </a:rPr>
              <a:t>Bond-loss gap below 2x by Q4</a:t>
            </a:r>
            <a:endParaRPr lang="en-US" sz="900" dirty="0"/>
          </a:p>
        </p:txBody>
      </p:sp>
      <p:sp>
        <p:nvSpPr>
          <p:cNvPr id="20" name="Shape 18"/>
          <p:cNvSpPr/>
          <p:nvPr/>
        </p:nvSpPr>
        <p:spPr>
          <a:xfrm>
            <a:off x="5843016" y="1371600"/>
            <a:ext cx="2578608" cy="3493008"/>
          </a:xfrm>
          <a:prstGeom prst="rect">
            <a:avLst/>
          </a:prstGeom>
          <a:solidFill>
            <a:srgbClr val="FFFFFF"/>
          </a:solidFill>
          <a:ln w="12700">
            <a:solidFill>
              <a:srgbClr val="DEDAD6"/>
            </a:solidFill>
            <a:prstDash val="solid"/>
          </a:ln>
          <a:effectLst>
            <a:outerShdw blurRad="63500" dist="25400" dir="8100000" algn="bl" rotWithShape="0">
              <a:srgbClr val="000000">
                <a:alpha val="8000"/>
              </a:srgbClr>
            </a:outerShdw>
          </a:effectLst>
        </p:spPr>
        <p:txBody>
          <a:bodyPr/>
          <a:lstStyle/>
          <a:p>
            <a:endParaRPr lang="en-AU"/>
          </a:p>
        </p:txBody>
      </p:sp>
      <p:sp>
        <p:nvSpPr>
          <p:cNvPr id="21" name="Shape 19"/>
          <p:cNvSpPr/>
          <p:nvPr/>
        </p:nvSpPr>
        <p:spPr>
          <a:xfrm>
            <a:off x="5843016" y="1371600"/>
            <a:ext cx="2578608" cy="411480"/>
          </a:xfrm>
          <a:prstGeom prst="rect">
            <a:avLst/>
          </a:prstGeom>
          <a:solidFill>
            <a:srgbClr val="3D5068"/>
          </a:solidFill>
          <a:ln w="12700">
            <a:solidFill>
              <a:srgbClr val="3D5068"/>
            </a:solidFill>
            <a:prstDash val="solid"/>
          </a:ln>
        </p:spPr>
        <p:txBody>
          <a:bodyPr/>
          <a:lstStyle/>
          <a:p>
            <a:endParaRPr lang="en-AU"/>
          </a:p>
        </p:txBody>
      </p:sp>
      <p:sp>
        <p:nvSpPr>
          <p:cNvPr id="22" name="Text 20"/>
          <p:cNvSpPr/>
          <p:nvPr/>
        </p:nvSpPr>
        <p:spPr>
          <a:xfrm>
            <a:off x="5843016" y="1371600"/>
            <a:ext cx="2578608"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LEGACY  |  12-18 months</a:t>
            </a:r>
            <a:endParaRPr lang="en-US" sz="1100" dirty="0"/>
          </a:p>
        </p:txBody>
      </p:sp>
      <p:sp>
        <p:nvSpPr>
          <p:cNvPr id="23" name="Text 21"/>
          <p:cNvSpPr/>
          <p:nvPr/>
        </p:nvSpPr>
        <p:spPr>
          <a:xfrm>
            <a:off x="5952744" y="1847088"/>
            <a:ext cx="2377440" cy="502920"/>
          </a:xfrm>
          <a:prstGeom prst="rect">
            <a:avLst/>
          </a:prstGeom>
          <a:noFill/>
          <a:ln/>
        </p:spPr>
        <p:txBody>
          <a:bodyPr wrap="square" rtlCol="0" anchor="ctr"/>
          <a:lstStyle/>
          <a:p>
            <a:pPr marL="0" indent="0">
              <a:buNone/>
            </a:pPr>
            <a:r>
              <a:rPr lang="en-US" sz="1350" b="1" dirty="0">
                <a:solidFill>
                  <a:srgbClr val="2B3A52"/>
                </a:solidFill>
                <a:latin typeface="Georgia" pitchFamily="34" charset="0"/>
                <a:ea typeface="Georgia" pitchFamily="34" charset="-122"/>
                <a:cs typeface="Georgia" pitchFamily="34" charset="-120"/>
              </a:rPr>
              <a:t>Tenant-favour presumption in SEIFA 1-3</a:t>
            </a:r>
            <a:endParaRPr lang="en-US" sz="1350" dirty="0"/>
          </a:p>
        </p:txBody>
      </p:sp>
      <p:sp>
        <p:nvSpPr>
          <p:cNvPr id="24" name="Text 22"/>
          <p:cNvSpPr/>
          <p:nvPr/>
        </p:nvSpPr>
        <p:spPr>
          <a:xfrm>
            <a:off x="5952744" y="2423160"/>
            <a:ext cx="2377440" cy="201168"/>
          </a:xfrm>
          <a:prstGeom prst="rect">
            <a:avLst/>
          </a:prstGeom>
          <a:noFill/>
          <a:ln/>
        </p:spPr>
        <p:txBody>
          <a:bodyPr wrap="square" rtlCol="0" anchor="ctr"/>
          <a:lstStyle/>
          <a:p>
            <a:pPr marL="0" indent="0">
              <a:buNone/>
            </a:pPr>
            <a:r>
              <a:rPr lang="en-US" sz="800" b="1" kern="0" spc="200" dirty="0">
                <a:solidFill>
                  <a:srgbClr val="8A8680"/>
                </a:solidFill>
                <a:latin typeface="Calibri" pitchFamily="34" charset="0"/>
                <a:ea typeface="Calibri" pitchFamily="34" charset="-122"/>
                <a:cs typeface="Calibri" pitchFamily="34" charset="-120"/>
              </a:rPr>
              <a:t>MECHANISM</a:t>
            </a:r>
            <a:endParaRPr lang="en-US" sz="800" dirty="0"/>
          </a:p>
        </p:txBody>
      </p:sp>
      <p:sp>
        <p:nvSpPr>
          <p:cNvPr id="25" name="Text 23"/>
          <p:cNvSpPr/>
          <p:nvPr/>
        </p:nvSpPr>
        <p:spPr>
          <a:xfrm>
            <a:off x="5952744" y="2624328"/>
            <a:ext cx="2377440" cy="1508760"/>
          </a:xfrm>
          <a:prstGeom prst="rect">
            <a:avLst/>
          </a:prstGeom>
          <a:noFill/>
          <a:ln/>
        </p:spPr>
        <p:txBody>
          <a:bodyPr wrap="square" rtlCol="0" anchor="ctr"/>
          <a:lstStyle/>
          <a:p>
            <a:pPr marL="0" indent="0">
              <a:lnSpc>
                <a:spcPct val="130000"/>
              </a:lnSpc>
              <a:buNone/>
            </a:pPr>
            <a:r>
              <a:rPr lang="en-US" sz="1100" dirty="0">
                <a:solidFill>
                  <a:srgbClr val="3D5068"/>
                </a:solidFill>
                <a:latin typeface="Calibri" pitchFamily="34" charset="0"/>
                <a:ea typeface="Calibri" pitchFamily="34" charset="-122"/>
                <a:cs typeface="Calibri" pitchFamily="34" charset="-120"/>
              </a:rPr>
              <a:t>NCAT procedural direction + RTA s.187 amendment. Pilot in the 8 named squeezed postcodes first.</a:t>
            </a:r>
            <a:endParaRPr lang="en-US" sz="1100" dirty="0"/>
          </a:p>
        </p:txBody>
      </p:sp>
      <p:sp>
        <p:nvSpPr>
          <p:cNvPr id="26" name="Shape 24"/>
          <p:cNvSpPr/>
          <p:nvPr/>
        </p:nvSpPr>
        <p:spPr>
          <a:xfrm>
            <a:off x="5843016" y="4480560"/>
            <a:ext cx="2578608" cy="347472"/>
          </a:xfrm>
          <a:prstGeom prst="rect">
            <a:avLst/>
          </a:prstGeom>
          <a:solidFill>
            <a:srgbClr val="EBF0F6"/>
          </a:solidFill>
          <a:ln w="12700">
            <a:solidFill>
              <a:srgbClr val="DEDAD6"/>
            </a:solidFill>
            <a:prstDash val="solid"/>
          </a:ln>
        </p:spPr>
        <p:txBody>
          <a:bodyPr/>
          <a:lstStyle/>
          <a:p>
            <a:endParaRPr lang="en-AU"/>
          </a:p>
        </p:txBody>
      </p:sp>
      <p:sp>
        <p:nvSpPr>
          <p:cNvPr id="27" name="Text 25"/>
          <p:cNvSpPr/>
          <p:nvPr/>
        </p:nvSpPr>
        <p:spPr>
          <a:xfrm>
            <a:off x="5843016" y="4480560"/>
            <a:ext cx="2578608" cy="347472"/>
          </a:xfrm>
          <a:prstGeom prst="rect">
            <a:avLst/>
          </a:prstGeom>
          <a:noFill/>
          <a:ln/>
        </p:spPr>
        <p:txBody>
          <a:bodyPr wrap="square" lIns="0" tIns="0" rIns="0" bIns="0" rtlCol="0" anchor="ctr"/>
          <a:lstStyle/>
          <a:p>
            <a:pPr marL="0" indent="0" algn="ctr">
              <a:buNone/>
            </a:pPr>
            <a:r>
              <a:rPr lang="en-US" sz="900" b="1" dirty="0">
                <a:solidFill>
                  <a:srgbClr val="3D5068"/>
                </a:solidFill>
                <a:latin typeface="Calibri" pitchFamily="34" charset="0"/>
                <a:ea typeface="Calibri" pitchFamily="34" charset="-122"/>
                <a:cs typeface="Calibri" pitchFamily="34" charset="-120"/>
              </a:rPr>
              <a:t>Decile-1 bond loss 37% to 20% by 2028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5F2"/>
        </a:solidFill>
        <a:effectLst/>
      </p:bgPr>
    </p:bg>
    <p:spTree>
      <p:nvGrpSpPr>
        <p:cNvPr id="1" name=""/>
        <p:cNvGrpSpPr/>
        <p:nvPr/>
      </p:nvGrpSpPr>
      <p:grpSpPr>
        <a:xfrm>
          <a:off x="0" y="0"/>
          <a:ext cx="0" cy="0"/>
          <a:chOff x="0" y="0"/>
          <a:chExt cx="0" cy="0"/>
        </a:xfrm>
      </p:grpSpPr>
      <p:sp>
        <p:nvSpPr>
          <p:cNvPr id="2" name="Shape 0"/>
          <p:cNvSpPr/>
          <p:nvPr/>
        </p:nvSpPr>
        <p:spPr>
          <a:xfrm>
            <a:off x="457200" y="457200"/>
            <a:ext cx="64008" cy="4206240"/>
          </a:xfrm>
          <a:prstGeom prst="rect">
            <a:avLst/>
          </a:prstGeom>
          <a:solidFill>
            <a:srgbClr val="B5342A"/>
          </a:solidFill>
          <a:ln w="12700">
            <a:solidFill>
              <a:srgbClr val="B5342A"/>
            </a:solidFill>
            <a:prstDash val="solid"/>
          </a:ln>
        </p:spPr>
        <p:txBody>
          <a:bodyPr/>
          <a:lstStyle/>
          <a:p>
            <a:endParaRPr lang="en-AU"/>
          </a:p>
        </p:txBody>
      </p:sp>
      <p:sp>
        <p:nvSpPr>
          <p:cNvPr id="3" name="Text 1"/>
          <p:cNvSpPr/>
          <p:nvPr/>
        </p:nvSpPr>
        <p:spPr>
          <a:xfrm>
            <a:off x="685800" y="457200"/>
            <a:ext cx="7955280" cy="1097280"/>
          </a:xfrm>
          <a:prstGeom prst="rect">
            <a:avLst/>
          </a:prstGeom>
          <a:noFill/>
          <a:ln/>
        </p:spPr>
        <p:txBody>
          <a:bodyPr wrap="square" rtlCol="0" anchor="ctr"/>
          <a:lstStyle/>
          <a:p>
            <a:pPr marL="0" indent="0">
              <a:lnSpc>
                <a:spcPct val="140000"/>
              </a:lnSpc>
              <a:buNone/>
            </a:pPr>
            <a:r>
              <a:rPr lang="en-US" sz="2000" dirty="0">
                <a:solidFill>
                  <a:srgbClr val="2B3A52"/>
                </a:solidFill>
                <a:latin typeface="Georgia" pitchFamily="34" charset="0"/>
                <a:ea typeface="Georgia" pitchFamily="34" charset="-122"/>
                <a:cs typeface="Georgia" pitchFamily="34" charset="-120"/>
              </a:rPr>
              <a:t>The data tells us exactly which postcodes need intervention,</a:t>
            </a:r>
            <a:endParaRPr lang="en-US" sz="2000" dirty="0"/>
          </a:p>
          <a:p>
            <a:pPr marL="0" indent="0">
              <a:lnSpc>
                <a:spcPct val="140000"/>
              </a:lnSpc>
              <a:buNone/>
            </a:pPr>
            <a:r>
              <a:rPr lang="en-US" sz="2000" dirty="0">
                <a:solidFill>
                  <a:srgbClr val="2B3A52"/>
                </a:solidFill>
                <a:latin typeface="Georgia" pitchFamily="34" charset="0"/>
                <a:ea typeface="Georgia" pitchFamily="34" charset="-122"/>
                <a:cs typeface="Georgia" pitchFamily="34" charset="-120"/>
              </a:rPr>
              <a:t>how big the gap is, and who pays the price.</a:t>
            </a:r>
            <a:endParaRPr lang="en-US" sz="2000" dirty="0"/>
          </a:p>
        </p:txBody>
      </p:sp>
      <p:sp>
        <p:nvSpPr>
          <p:cNvPr id="4" name="Text 2"/>
          <p:cNvSpPr/>
          <p:nvPr/>
        </p:nvSpPr>
        <p:spPr>
          <a:xfrm>
            <a:off x="685800" y="1572768"/>
            <a:ext cx="7955280" cy="548640"/>
          </a:xfrm>
          <a:prstGeom prst="rect">
            <a:avLst/>
          </a:prstGeom>
          <a:noFill/>
          <a:ln/>
        </p:spPr>
        <p:txBody>
          <a:bodyPr wrap="square" rtlCol="0" anchor="ctr"/>
          <a:lstStyle/>
          <a:p>
            <a:pPr marL="0" indent="0">
              <a:buNone/>
            </a:pPr>
            <a:r>
              <a:rPr lang="en-US" sz="2000" i="1" dirty="0">
                <a:solidFill>
                  <a:srgbClr val="B5342A"/>
                </a:solidFill>
                <a:latin typeface="Georgia" pitchFamily="34" charset="0"/>
                <a:ea typeface="Georgia" pitchFamily="34" charset="-122"/>
                <a:cs typeface="Georgia" pitchFamily="34" charset="-120"/>
              </a:rPr>
              <a:t>What is missing is the will to act.</a:t>
            </a:r>
            <a:endParaRPr lang="en-US" sz="2000" dirty="0"/>
          </a:p>
        </p:txBody>
      </p:sp>
      <p:sp>
        <p:nvSpPr>
          <p:cNvPr id="5" name="Shape 3"/>
          <p:cNvSpPr/>
          <p:nvPr/>
        </p:nvSpPr>
        <p:spPr>
          <a:xfrm>
            <a:off x="685800" y="2267712"/>
            <a:ext cx="7772400" cy="36576"/>
          </a:xfrm>
          <a:prstGeom prst="rect">
            <a:avLst/>
          </a:prstGeom>
          <a:solidFill>
            <a:srgbClr val="DEDAD6"/>
          </a:solidFill>
          <a:ln w="12700">
            <a:solidFill>
              <a:srgbClr val="DEDAD6"/>
            </a:solidFill>
            <a:prstDash val="solid"/>
          </a:ln>
        </p:spPr>
        <p:txBody>
          <a:bodyPr/>
          <a:lstStyle/>
          <a:p>
            <a:endParaRPr lang="en-AU"/>
          </a:p>
        </p:txBody>
      </p:sp>
      <p:sp>
        <p:nvSpPr>
          <p:cNvPr id="6" name="Shape 4"/>
          <p:cNvSpPr/>
          <p:nvPr/>
        </p:nvSpPr>
        <p:spPr>
          <a:xfrm>
            <a:off x="685800" y="2450592"/>
            <a:ext cx="1828800" cy="1965960"/>
          </a:xfrm>
          <a:prstGeom prst="rect">
            <a:avLst/>
          </a:prstGeom>
          <a:solidFill>
            <a:srgbClr val="EBF0F6"/>
          </a:solidFill>
          <a:ln w="12700">
            <a:solidFill>
              <a:srgbClr val="DEDAD6"/>
            </a:solidFill>
            <a:prstDash val="solid"/>
          </a:ln>
        </p:spPr>
        <p:txBody>
          <a:bodyPr/>
          <a:lstStyle/>
          <a:p>
            <a:endParaRPr lang="en-AU"/>
          </a:p>
        </p:txBody>
      </p:sp>
      <p:sp>
        <p:nvSpPr>
          <p:cNvPr id="7" name="Shape 5"/>
          <p:cNvSpPr/>
          <p:nvPr/>
        </p:nvSpPr>
        <p:spPr>
          <a:xfrm>
            <a:off x="685800" y="2450592"/>
            <a:ext cx="1828800" cy="219456"/>
          </a:xfrm>
          <a:prstGeom prst="rect">
            <a:avLst/>
          </a:prstGeom>
          <a:solidFill>
            <a:srgbClr val="B87333"/>
          </a:solidFill>
          <a:ln w="12700">
            <a:solidFill>
              <a:srgbClr val="B87333"/>
            </a:solidFill>
            <a:prstDash val="solid"/>
          </a:ln>
        </p:spPr>
        <p:txBody>
          <a:bodyPr/>
          <a:lstStyle/>
          <a:p>
            <a:endParaRPr lang="en-AU"/>
          </a:p>
        </p:txBody>
      </p:sp>
      <p:sp>
        <p:nvSpPr>
          <p:cNvPr id="8" name="Text 6"/>
          <p:cNvSpPr/>
          <p:nvPr/>
        </p:nvSpPr>
        <p:spPr>
          <a:xfrm>
            <a:off x="685800" y="2450592"/>
            <a:ext cx="1828800" cy="219456"/>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Calibri" pitchFamily="34" charset="0"/>
                <a:ea typeface="Calibri" pitchFamily="34" charset="-122"/>
                <a:cs typeface="Calibri" pitchFamily="34" charset="-120"/>
              </a:rPr>
              <a:t>MODELLED</a:t>
            </a:r>
            <a:endParaRPr lang="en-US" sz="800" dirty="0"/>
          </a:p>
        </p:txBody>
      </p:sp>
      <p:sp>
        <p:nvSpPr>
          <p:cNvPr id="9" name="Text 7"/>
          <p:cNvSpPr/>
          <p:nvPr/>
        </p:nvSpPr>
        <p:spPr>
          <a:xfrm>
            <a:off x="685800" y="2697480"/>
            <a:ext cx="1828800" cy="822960"/>
          </a:xfrm>
          <a:prstGeom prst="rect">
            <a:avLst/>
          </a:prstGeom>
          <a:noFill/>
          <a:ln/>
        </p:spPr>
        <p:txBody>
          <a:bodyPr wrap="square" rtlCol="0" anchor="ctr"/>
          <a:lstStyle/>
          <a:p>
            <a:pPr marL="0" indent="0" algn="ctr">
              <a:buNone/>
            </a:pPr>
            <a:r>
              <a:rPr lang="en-US" sz="3000" b="1" dirty="0">
                <a:solidFill>
                  <a:srgbClr val="2B3A52"/>
                </a:solidFill>
                <a:latin typeface="Georgia" pitchFamily="34" charset="0"/>
                <a:ea typeface="Georgia" pitchFamily="34" charset="-122"/>
                <a:cs typeface="Georgia" pitchFamily="34" charset="-120"/>
              </a:rPr>
              <a:t>$15.6M</a:t>
            </a:r>
            <a:endParaRPr lang="en-US" sz="3000" dirty="0"/>
          </a:p>
        </p:txBody>
      </p:sp>
      <p:sp>
        <p:nvSpPr>
          <p:cNvPr id="10" name="Text 8"/>
          <p:cNvSpPr/>
          <p:nvPr/>
        </p:nvSpPr>
        <p:spPr>
          <a:xfrm>
            <a:off x="685800" y="3520440"/>
            <a:ext cx="1828800" cy="685800"/>
          </a:xfrm>
          <a:prstGeom prst="rect">
            <a:avLst/>
          </a:prstGeom>
          <a:noFill/>
          <a:ln/>
        </p:spPr>
        <p:txBody>
          <a:bodyPr wrap="square" rtlCol="0" anchor="ctr"/>
          <a:lstStyle/>
          <a:p>
            <a:pPr marL="0" indent="0" algn="ctr">
              <a:lnSpc>
                <a:spcPct val="120000"/>
              </a:lnSpc>
              <a:buNone/>
            </a:pPr>
            <a:r>
              <a:rPr lang="en-US" sz="1000" dirty="0">
                <a:solidFill>
                  <a:srgbClr val="8A8680"/>
                </a:solidFill>
                <a:latin typeface="Calibri" pitchFamily="34" charset="0"/>
                <a:ea typeface="Calibri" pitchFamily="34" charset="-122"/>
                <a:cs typeface="Calibri" pitchFamily="34" charset="-120"/>
              </a:rPr>
              <a:t>bond recoverable</a:t>
            </a:r>
            <a:endParaRPr lang="en-US" sz="1000" dirty="0"/>
          </a:p>
          <a:p>
            <a:pPr marL="0" indent="0" algn="ctr">
              <a:lnSpc>
                <a:spcPct val="120000"/>
              </a:lnSpc>
              <a:buNone/>
            </a:pPr>
            <a:r>
              <a:rPr lang="en-US" sz="1000" dirty="0">
                <a:solidFill>
                  <a:srgbClr val="8A8680"/>
                </a:solidFill>
                <a:latin typeface="Calibri" pitchFamily="34" charset="0"/>
                <a:ea typeface="Calibri" pitchFamily="34" charset="-122"/>
                <a:cs typeface="Calibri" pitchFamily="34" charset="-120"/>
              </a:rPr>
              <a:t>per year</a:t>
            </a:r>
            <a:endParaRPr lang="en-US" sz="1000" dirty="0"/>
          </a:p>
        </p:txBody>
      </p:sp>
      <p:sp>
        <p:nvSpPr>
          <p:cNvPr id="11" name="Shape 9"/>
          <p:cNvSpPr/>
          <p:nvPr/>
        </p:nvSpPr>
        <p:spPr>
          <a:xfrm>
            <a:off x="2743200" y="2450592"/>
            <a:ext cx="1828800" cy="1965960"/>
          </a:xfrm>
          <a:prstGeom prst="rect">
            <a:avLst/>
          </a:prstGeom>
          <a:solidFill>
            <a:srgbClr val="EBF0F6"/>
          </a:solidFill>
          <a:ln w="12700">
            <a:solidFill>
              <a:srgbClr val="DEDAD6"/>
            </a:solidFill>
            <a:prstDash val="solid"/>
          </a:ln>
        </p:spPr>
        <p:txBody>
          <a:bodyPr/>
          <a:lstStyle/>
          <a:p>
            <a:endParaRPr lang="en-AU"/>
          </a:p>
        </p:txBody>
      </p:sp>
      <p:sp>
        <p:nvSpPr>
          <p:cNvPr id="12" name="Shape 10"/>
          <p:cNvSpPr/>
          <p:nvPr/>
        </p:nvSpPr>
        <p:spPr>
          <a:xfrm>
            <a:off x="2743200" y="2450592"/>
            <a:ext cx="1828800" cy="219456"/>
          </a:xfrm>
          <a:prstGeom prst="rect">
            <a:avLst/>
          </a:prstGeom>
          <a:solidFill>
            <a:srgbClr val="3D5068"/>
          </a:solidFill>
          <a:ln w="12700">
            <a:solidFill>
              <a:srgbClr val="3D5068"/>
            </a:solidFill>
            <a:prstDash val="solid"/>
          </a:ln>
        </p:spPr>
        <p:txBody>
          <a:bodyPr/>
          <a:lstStyle/>
          <a:p>
            <a:endParaRPr lang="en-AU"/>
          </a:p>
        </p:txBody>
      </p:sp>
      <p:sp>
        <p:nvSpPr>
          <p:cNvPr id="13" name="Text 11"/>
          <p:cNvSpPr/>
          <p:nvPr/>
        </p:nvSpPr>
        <p:spPr>
          <a:xfrm>
            <a:off x="2743200" y="2450592"/>
            <a:ext cx="1828800" cy="219456"/>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Calibri" pitchFamily="34" charset="0"/>
                <a:ea typeface="Calibri" pitchFamily="34" charset="-122"/>
                <a:cs typeface="Calibri" pitchFamily="34" charset="-120"/>
              </a:rPr>
              <a:t>OBSERVED</a:t>
            </a:r>
            <a:endParaRPr lang="en-US" sz="800" dirty="0"/>
          </a:p>
        </p:txBody>
      </p:sp>
      <p:sp>
        <p:nvSpPr>
          <p:cNvPr id="14" name="Text 12"/>
          <p:cNvSpPr/>
          <p:nvPr/>
        </p:nvSpPr>
        <p:spPr>
          <a:xfrm>
            <a:off x="2743200" y="2697480"/>
            <a:ext cx="1828800" cy="822960"/>
          </a:xfrm>
          <a:prstGeom prst="rect">
            <a:avLst/>
          </a:prstGeom>
          <a:noFill/>
          <a:ln/>
        </p:spPr>
        <p:txBody>
          <a:bodyPr wrap="square" rtlCol="0" anchor="ctr"/>
          <a:lstStyle/>
          <a:p>
            <a:pPr marL="0" indent="0" algn="ctr">
              <a:buNone/>
            </a:pPr>
            <a:r>
              <a:rPr lang="en-US" sz="3000" b="1" dirty="0">
                <a:solidFill>
                  <a:srgbClr val="2B3A52"/>
                </a:solidFill>
                <a:latin typeface="Georgia" pitchFamily="34" charset="0"/>
                <a:ea typeface="Georgia" pitchFamily="34" charset="-122"/>
                <a:cs typeface="Georgia" pitchFamily="34" charset="-120"/>
              </a:rPr>
              <a:t>65,140</a:t>
            </a:r>
            <a:endParaRPr lang="en-US" sz="3000" dirty="0"/>
          </a:p>
        </p:txBody>
      </p:sp>
      <p:sp>
        <p:nvSpPr>
          <p:cNvPr id="15" name="Text 13"/>
          <p:cNvSpPr/>
          <p:nvPr/>
        </p:nvSpPr>
        <p:spPr>
          <a:xfrm>
            <a:off x="2743200" y="3520440"/>
            <a:ext cx="1828800" cy="685800"/>
          </a:xfrm>
          <a:prstGeom prst="rect">
            <a:avLst/>
          </a:prstGeom>
          <a:noFill/>
          <a:ln/>
        </p:spPr>
        <p:txBody>
          <a:bodyPr wrap="square" rtlCol="0" anchor="ctr"/>
          <a:lstStyle/>
          <a:p>
            <a:pPr marL="0" indent="0" algn="ctr">
              <a:lnSpc>
                <a:spcPct val="120000"/>
              </a:lnSpc>
              <a:buNone/>
            </a:pPr>
            <a:r>
              <a:rPr lang="en-US" sz="1000" dirty="0">
                <a:solidFill>
                  <a:srgbClr val="8A8680"/>
                </a:solidFill>
                <a:latin typeface="Calibri" pitchFamily="34" charset="0"/>
                <a:ea typeface="Calibri" pitchFamily="34" charset="-122"/>
                <a:cs typeface="Calibri" pitchFamily="34" charset="-120"/>
              </a:rPr>
              <a:t>bond lodgements</a:t>
            </a:r>
            <a:endParaRPr lang="en-US" sz="1000" dirty="0"/>
          </a:p>
          <a:p>
            <a:pPr marL="0" indent="0" algn="ctr">
              <a:lnSpc>
                <a:spcPct val="120000"/>
              </a:lnSpc>
              <a:buNone/>
            </a:pPr>
            <a:r>
              <a:rPr lang="en-US" sz="1000" dirty="0">
                <a:solidFill>
                  <a:srgbClr val="8A8680"/>
                </a:solidFill>
                <a:latin typeface="Calibri" pitchFamily="34" charset="0"/>
                <a:ea typeface="Calibri" pitchFamily="34" charset="-122"/>
                <a:cs typeface="Calibri" pitchFamily="34" charset="-120"/>
              </a:rPr>
              <a:t>in deciles 1-3</a:t>
            </a:r>
            <a:endParaRPr lang="en-US" sz="1000" dirty="0"/>
          </a:p>
        </p:txBody>
      </p:sp>
      <p:sp>
        <p:nvSpPr>
          <p:cNvPr id="16" name="Shape 14"/>
          <p:cNvSpPr/>
          <p:nvPr/>
        </p:nvSpPr>
        <p:spPr>
          <a:xfrm>
            <a:off x="4800600" y="2450592"/>
            <a:ext cx="1828800" cy="1965960"/>
          </a:xfrm>
          <a:prstGeom prst="rect">
            <a:avLst/>
          </a:prstGeom>
          <a:solidFill>
            <a:srgbClr val="EBF0F6"/>
          </a:solidFill>
          <a:ln w="12700">
            <a:solidFill>
              <a:srgbClr val="DEDAD6"/>
            </a:solidFill>
            <a:prstDash val="solid"/>
          </a:ln>
        </p:spPr>
        <p:txBody>
          <a:bodyPr/>
          <a:lstStyle/>
          <a:p>
            <a:endParaRPr lang="en-AU"/>
          </a:p>
        </p:txBody>
      </p:sp>
      <p:sp>
        <p:nvSpPr>
          <p:cNvPr id="17" name="Shape 15"/>
          <p:cNvSpPr/>
          <p:nvPr/>
        </p:nvSpPr>
        <p:spPr>
          <a:xfrm>
            <a:off x="4800600" y="2450592"/>
            <a:ext cx="1828800" cy="219456"/>
          </a:xfrm>
          <a:prstGeom prst="rect">
            <a:avLst/>
          </a:prstGeom>
          <a:solidFill>
            <a:srgbClr val="3D5068"/>
          </a:solidFill>
          <a:ln w="12700">
            <a:solidFill>
              <a:srgbClr val="3D5068"/>
            </a:solidFill>
            <a:prstDash val="solid"/>
          </a:ln>
        </p:spPr>
        <p:txBody>
          <a:bodyPr/>
          <a:lstStyle/>
          <a:p>
            <a:endParaRPr lang="en-AU"/>
          </a:p>
        </p:txBody>
      </p:sp>
      <p:sp>
        <p:nvSpPr>
          <p:cNvPr id="18" name="Text 16"/>
          <p:cNvSpPr/>
          <p:nvPr/>
        </p:nvSpPr>
        <p:spPr>
          <a:xfrm>
            <a:off x="4800600" y="2450592"/>
            <a:ext cx="1828800" cy="219456"/>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Calibri" pitchFamily="34" charset="0"/>
                <a:ea typeface="Calibri" pitchFamily="34" charset="-122"/>
                <a:cs typeface="Calibri" pitchFamily="34" charset="-120"/>
              </a:rPr>
              <a:t>OBSERVED</a:t>
            </a:r>
            <a:endParaRPr lang="en-US" sz="800" dirty="0"/>
          </a:p>
        </p:txBody>
      </p:sp>
      <p:sp>
        <p:nvSpPr>
          <p:cNvPr id="19" name="Text 17"/>
          <p:cNvSpPr/>
          <p:nvPr/>
        </p:nvSpPr>
        <p:spPr>
          <a:xfrm>
            <a:off x="4800600" y="2697480"/>
            <a:ext cx="1828800" cy="822960"/>
          </a:xfrm>
          <a:prstGeom prst="rect">
            <a:avLst/>
          </a:prstGeom>
          <a:noFill/>
          <a:ln/>
        </p:spPr>
        <p:txBody>
          <a:bodyPr wrap="square" rtlCol="0" anchor="ctr"/>
          <a:lstStyle/>
          <a:p>
            <a:pPr marL="0" indent="0" algn="ctr">
              <a:buNone/>
            </a:pPr>
            <a:r>
              <a:rPr lang="en-US" sz="3000" b="1" dirty="0">
                <a:solidFill>
                  <a:srgbClr val="2B3A52"/>
                </a:solidFill>
                <a:latin typeface="Georgia" pitchFamily="34" charset="0"/>
                <a:ea typeface="Georgia" pitchFamily="34" charset="-122"/>
                <a:cs typeface="Georgia" pitchFamily="34" charset="-120"/>
              </a:rPr>
              <a:t>194</a:t>
            </a:r>
            <a:endParaRPr lang="en-US" sz="3000" dirty="0"/>
          </a:p>
        </p:txBody>
      </p:sp>
      <p:sp>
        <p:nvSpPr>
          <p:cNvPr id="20" name="Text 18"/>
          <p:cNvSpPr/>
          <p:nvPr/>
        </p:nvSpPr>
        <p:spPr>
          <a:xfrm>
            <a:off x="4800600" y="3520440"/>
            <a:ext cx="1828800" cy="685800"/>
          </a:xfrm>
          <a:prstGeom prst="rect">
            <a:avLst/>
          </a:prstGeom>
          <a:noFill/>
          <a:ln/>
        </p:spPr>
        <p:txBody>
          <a:bodyPr wrap="square" rtlCol="0" anchor="ctr"/>
          <a:lstStyle/>
          <a:p>
            <a:pPr marL="0" indent="0" algn="ctr">
              <a:lnSpc>
                <a:spcPct val="120000"/>
              </a:lnSpc>
              <a:buNone/>
            </a:pPr>
            <a:r>
              <a:rPr lang="en-US" sz="1000" dirty="0">
                <a:solidFill>
                  <a:srgbClr val="8A8680"/>
                </a:solidFill>
                <a:latin typeface="Calibri" pitchFamily="34" charset="0"/>
                <a:ea typeface="Calibri" pitchFamily="34" charset="-122"/>
                <a:cs typeface="Calibri" pitchFamily="34" charset="-120"/>
              </a:rPr>
              <a:t>targeted</a:t>
            </a:r>
            <a:endParaRPr lang="en-US" sz="1000" dirty="0"/>
          </a:p>
          <a:p>
            <a:pPr marL="0" indent="0" algn="ctr">
              <a:lnSpc>
                <a:spcPct val="120000"/>
              </a:lnSpc>
              <a:buNone/>
            </a:pPr>
            <a:r>
              <a:rPr lang="en-US" sz="1000" dirty="0">
                <a:solidFill>
                  <a:srgbClr val="8A8680"/>
                </a:solidFill>
                <a:latin typeface="Calibri" pitchFamily="34" charset="0"/>
                <a:ea typeface="Calibri" pitchFamily="34" charset="-122"/>
                <a:cs typeface="Calibri" pitchFamily="34" charset="-120"/>
              </a:rPr>
              <a:t>postcodes</a:t>
            </a:r>
            <a:endParaRPr lang="en-US" sz="1000" dirty="0"/>
          </a:p>
        </p:txBody>
      </p:sp>
      <p:sp>
        <p:nvSpPr>
          <p:cNvPr id="21" name="Shape 19"/>
          <p:cNvSpPr/>
          <p:nvPr/>
        </p:nvSpPr>
        <p:spPr>
          <a:xfrm>
            <a:off x="6858000" y="2450592"/>
            <a:ext cx="1828800" cy="1965960"/>
          </a:xfrm>
          <a:prstGeom prst="rect">
            <a:avLst/>
          </a:prstGeom>
          <a:solidFill>
            <a:srgbClr val="EBF0F6"/>
          </a:solidFill>
          <a:ln w="12700">
            <a:solidFill>
              <a:srgbClr val="DEDAD6"/>
            </a:solidFill>
            <a:prstDash val="solid"/>
          </a:ln>
        </p:spPr>
        <p:txBody>
          <a:bodyPr/>
          <a:lstStyle/>
          <a:p>
            <a:endParaRPr lang="en-AU"/>
          </a:p>
        </p:txBody>
      </p:sp>
      <p:sp>
        <p:nvSpPr>
          <p:cNvPr id="22" name="Shape 20"/>
          <p:cNvSpPr/>
          <p:nvPr/>
        </p:nvSpPr>
        <p:spPr>
          <a:xfrm>
            <a:off x="6858000" y="2450592"/>
            <a:ext cx="1828800" cy="219456"/>
          </a:xfrm>
          <a:prstGeom prst="rect">
            <a:avLst/>
          </a:prstGeom>
          <a:solidFill>
            <a:srgbClr val="3D5068"/>
          </a:solidFill>
          <a:ln w="12700">
            <a:solidFill>
              <a:srgbClr val="3D5068"/>
            </a:solidFill>
            <a:prstDash val="solid"/>
          </a:ln>
        </p:spPr>
        <p:txBody>
          <a:bodyPr/>
          <a:lstStyle/>
          <a:p>
            <a:endParaRPr lang="en-AU"/>
          </a:p>
        </p:txBody>
      </p:sp>
      <p:sp>
        <p:nvSpPr>
          <p:cNvPr id="23" name="Text 21"/>
          <p:cNvSpPr/>
          <p:nvPr/>
        </p:nvSpPr>
        <p:spPr>
          <a:xfrm>
            <a:off x="6858000" y="2450592"/>
            <a:ext cx="1828800" cy="219456"/>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Calibri" pitchFamily="34" charset="0"/>
                <a:ea typeface="Calibri" pitchFamily="34" charset="-122"/>
                <a:cs typeface="Calibri" pitchFamily="34" charset="-120"/>
              </a:rPr>
              <a:t>OBSERVED</a:t>
            </a:r>
            <a:endParaRPr lang="en-US" sz="800" dirty="0"/>
          </a:p>
        </p:txBody>
      </p:sp>
      <p:sp>
        <p:nvSpPr>
          <p:cNvPr id="24" name="Text 22"/>
          <p:cNvSpPr/>
          <p:nvPr/>
        </p:nvSpPr>
        <p:spPr>
          <a:xfrm>
            <a:off x="6858000" y="2697480"/>
            <a:ext cx="1828800" cy="822960"/>
          </a:xfrm>
          <a:prstGeom prst="rect">
            <a:avLst/>
          </a:prstGeom>
          <a:noFill/>
          <a:ln/>
        </p:spPr>
        <p:txBody>
          <a:bodyPr wrap="square" rtlCol="0" anchor="ctr"/>
          <a:lstStyle/>
          <a:p>
            <a:pPr marL="0" indent="0" algn="ctr">
              <a:buNone/>
            </a:pPr>
            <a:r>
              <a:rPr lang="en-US" sz="3000" b="1" dirty="0">
                <a:solidFill>
                  <a:srgbClr val="2B3A52"/>
                </a:solidFill>
                <a:latin typeface="Georgia" pitchFamily="34" charset="0"/>
                <a:ea typeface="Georgia" pitchFamily="34" charset="-122"/>
                <a:cs typeface="Georgia" pitchFamily="34" charset="-120"/>
              </a:rPr>
              <a:t>2.1M</a:t>
            </a:r>
            <a:endParaRPr lang="en-US" sz="3000" dirty="0"/>
          </a:p>
        </p:txBody>
      </p:sp>
      <p:sp>
        <p:nvSpPr>
          <p:cNvPr id="25" name="Text 23"/>
          <p:cNvSpPr/>
          <p:nvPr/>
        </p:nvSpPr>
        <p:spPr>
          <a:xfrm>
            <a:off x="6858000" y="3520440"/>
            <a:ext cx="1828800" cy="685800"/>
          </a:xfrm>
          <a:prstGeom prst="rect">
            <a:avLst/>
          </a:prstGeom>
          <a:noFill/>
          <a:ln/>
        </p:spPr>
        <p:txBody>
          <a:bodyPr wrap="square" rtlCol="0" anchor="ctr"/>
          <a:lstStyle/>
          <a:p>
            <a:pPr marL="0" indent="0" algn="ctr">
              <a:lnSpc>
                <a:spcPct val="120000"/>
              </a:lnSpc>
              <a:buNone/>
            </a:pPr>
            <a:r>
              <a:rPr lang="en-US" sz="1000" dirty="0">
                <a:solidFill>
                  <a:srgbClr val="8A8680"/>
                </a:solidFill>
                <a:latin typeface="Calibri" pitchFamily="34" charset="0"/>
                <a:ea typeface="Calibri" pitchFamily="34" charset="-122"/>
                <a:cs typeface="Calibri" pitchFamily="34" charset="-120"/>
              </a:rPr>
              <a:t>residents</a:t>
            </a:r>
            <a:endParaRPr lang="en-US" sz="1000" dirty="0"/>
          </a:p>
          <a:p>
            <a:pPr marL="0" indent="0" algn="ctr">
              <a:lnSpc>
                <a:spcPct val="120000"/>
              </a:lnSpc>
              <a:buNone/>
            </a:pPr>
            <a:r>
              <a:rPr lang="en-US" sz="1000" dirty="0">
                <a:solidFill>
                  <a:srgbClr val="8A8680"/>
                </a:solidFill>
                <a:latin typeface="Calibri" pitchFamily="34" charset="0"/>
                <a:ea typeface="Calibri" pitchFamily="34" charset="-122"/>
                <a:cs typeface="Calibri" pitchFamily="34" charset="-120"/>
              </a:rPr>
              <a:t>at stake</a:t>
            </a:r>
            <a:endParaRPr lang="en-US" sz="1000" dirty="0"/>
          </a:p>
        </p:txBody>
      </p:sp>
      <p:sp>
        <p:nvSpPr>
          <p:cNvPr id="26" name="Shape 24"/>
          <p:cNvSpPr/>
          <p:nvPr/>
        </p:nvSpPr>
        <p:spPr>
          <a:xfrm>
            <a:off x="685800" y="4526280"/>
            <a:ext cx="7772400" cy="411480"/>
          </a:xfrm>
          <a:prstGeom prst="rect">
            <a:avLst/>
          </a:prstGeom>
          <a:solidFill>
            <a:srgbClr val="B5342A"/>
          </a:solidFill>
          <a:ln w="12700">
            <a:solidFill>
              <a:srgbClr val="B5342A"/>
            </a:solidFill>
            <a:prstDash val="solid"/>
          </a:ln>
        </p:spPr>
        <p:txBody>
          <a:bodyPr/>
          <a:lstStyle/>
          <a:p>
            <a:endParaRPr lang="en-AU"/>
          </a:p>
        </p:txBody>
      </p:sp>
      <p:sp>
        <p:nvSpPr>
          <p:cNvPr id="27" name="Text 25"/>
          <p:cNvSpPr/>
          <p:nvPr/>
        </p:nvSpPr>
        <p:spPr>
          <a:xfrm>
            <a:off x="685800" y="4526280"/>
            <a:ext cx="7772400" cy="41148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Dashboard:  tableau.com  &gt;  ”The Bond Penalty: Same System, Different Outcome"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2B3A52"/>
        </a:solidFill>
        <a:effectLst/>
      </p:bgPr>
    </p:bg>
    <p:spTree>
      <p:nvGrpSpPr>
        <p:cNvPr id="1" name=""/>
        <p:cNvGrpSpPr/>
        <p:nvPr/>
      </p:nvGrpSpPr>
      <p:grpSpPr>
        <a:xfrm>
          <a:off x="0" y="0"/>
          <a:ext cx="0" cy="0"/>
          <a:chOff x="0" y="0"/>
          <a:chExt cx="0" cy="0"/>
        </a:xfrm>
      </p:grpSpPr>
      <p:sp>
        <p:nvSpPr>
          <p:cNvPr id="2" name="Shape 0"/>
          <p:cNvSpPr/>
          <p:nvPr/>
        </p:nvSpPr>
        <p:spPr>
          <a:xfrm>
            <a:off x="457200" y="457200"/>
            <a:ext cx="64008" cy="4206240"/>
          </a:xfrm>
          <a:prstGeom prst="rect">
            <a:avLst/>
          </a:prstGeom>
          <a:solidFill>
            <a:srgbClr val="B5342A"/>
          </a:solidFill>
          <a:ln w="12700">
            <a:solidFill>
              <a:srgbClr val="B5342A"/>
            </a:solidFill>
            <a:prstDash val="solid"/>
          </a:ln>
        </p:spPr>
        <p:txBody>
          <a:bodyPr/>
          <a:lstStyle/>
          <a:p>
            <a:endParaRPr lang="en-AU"/>
          </a:p>
        </p:txBody>
      </p:sp>
      <p:sp>
        <p:nvSpPr>
          <p:cNvPr id="3" name="Text 1"/>
          <p:cNvSpPr/>
          <p:nvPr/>
        </p:nvSpPr>
        <p:spPr>
          <a:xfrm>
            <a:off x="685800" y="1097280"/>
            <a:ext cx="7955280" cy="1188720"/>
          </a:xfrm>
          <a:prstGeom prst="rect">
            <a:avLst/>
          </a:prstGeom>
          <a:noFill/>
          <a:ln/>
        </p:spPr>
        <p:txBody>
          <a:bodyPr wrap="square"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Thank you.</a:t>
            </a:r>
            <a:endParaRPr lang="en-US" sz="5200" dirty="0"/>
          </a:p>
        </p:txBody>
      </p:sp>
      <p:sp>
        <p:nvSpPr>
          <p:cNvPr id="4" name="Text 2"/>
          <p:cNvSpPr/>
          <p:nvPr/>
        </p:nvSpPr>
        <p:spPr>
          <a:xfrm>
            <a:off x="685800" y="2240280"/>
            <a:ext cx="7955280" cy="502920"/>
          </a:xfrm>
          <a:prstGeom prst="rect">
            <a:avLst/>
          </a:prstGeom>
          <a:noFill/>
          <a:ln/>
        </p:spPr>
        <p:txBody>
          <a:bodyPr wrap="square" rtlCol="0" anchor="ctr"/>
          <a:lstStyle/>
          <a:p>
            <a:pPr marL="0" indent="0">
              <a:buNone/>
            </a:pPr>
            <a:r>
              <a:rPr lang="en-US" sz="1800" i="1" dirty="0">
                <a:solidFill>
                  <a:srgbClr val="CADCEF"/>
                </a:solidFill>
                <a:latin typeface="Calibri" pitchFamily="34" charset="0"/>
                <a:ea typeface="Calibri" pitchFamily="34" charset="-122"/>
                <a:cs typeface="Calibri" pitchFamily="34" charset="-120"/>
              </a:rPr>
              <a:t>We welcome your questions.</a:t>
            </a:r>
            <a:endParaRPr lang="en-US" sz="1800" dirty="0"/>
          </a:p>
        </p:txBody>
      </p:sp>
      <p:sp>
        <p:nvSpPr>
          <p:cNvPr id="5" name="Shape 3"/>
          <p:cNvSpPr/>
          <p:nvPr/>
        </p:nvSpPr>
        <p:spPr>
          <a:xfrm>
            <a:off x="685800" y="2907792"/>
            <a:ext cx="7772400" cy="36576"/>
          </a:xfrm>
          <a:prstGeom prst="rect">
            <a:avLst/>
          </a:prstGeom>
          <a:solidFill>
            <a:srgbClr val="4A6380"/>
          </a:solidFill>
          <a:ln w="12700">
            <a:solidFill>
              <a:srgbClr val="4A6380"/>
            </a:solidFill>
            <a:prstDash val="solid"/>
          </a:ln>
        </p:spPr>
        <p:txBody>
          <a:bodyPr/>
          <a:lstStyle/>
          <a:p>
            <a:endParaRPr lang="en-AU"/>
          </a:p>
        </p:txBody>
      </p:sp>
      <p:sp>
        <p:nvSpPr>
          <p:cNvPr id="6" name="Text 4"/>
          <p:cNvSpPr/>
          <p:nvPr/>
        </p:nvSpPr>
        <p:spPr>
          <a:xfrm>
            <a:off x="685800" y="3063240"/>
            <a:ext cx="7772400" cy="292608"/>
          </a:xfrm>
          <a:prstGeom prst="rect">
            <a:avLst/>
          </a:prstGeom>
          <a:noFill/>
          <a:ln/>
        </p:spPr>
        <p:txBody>
          <a:bodyPr wrap="square" rtlCol="0" anchor="ctr"/>
          <a:lstStyle/>
          <a:p>
            <a:pPr marL="0" indent="0">
              <a:buNone/>
            </a:pPr>
            <a:r>
              <a:rPr lang="en-US" sz="1100" dirty="0">
                <a:solidFill>
                  <a:srgbClr val="4A6380"/>
                </a:solidFill>
                <a:latin typeface="Calibri" pitchFamily="34" charset="0"/>
                <a:ea typeface="Calibri" pitchFamily="34" charset="-122"/>
                <a:cs typeface="Calibri" pitchFamily="34" charset="-120"/>
              </a:rPr>
              <a:t>DVN Group  |  Assignment 3, Part 2  |  May 2026</a:t>
            </a:r>
            <a:endParaRPr lang="en-US" sz="1100" dirty="0"/>
          </a:p>
        </p:txBody>
      </p:sp>
      <p:sp>
        <p:nvSpPr>
          <p:cNvPr id="7" name="Text 5"/>
          <p:cNvSpPr/>
          <p:nvPr/>
        </p:nvSpPr>
        <p:spPr>
          <a:xfrm>
            <a:off x="685800" y="3456432"/>
            <a:ext cx="7772400" cy="292608"/>
          </a:xfrm>
          <a:prstGeom prst="rect">
            <a:avLst/>
          </a:prstGeom>
          <a:noFill/>
          <a:ln/>
        </p:spPr>
        <p:txBody>
          <a:bodyPr wrap="square" rtlCol="0" anchor="ctr"/>
          <a:lstStyle/>
          <a:p>
            <a:pPr marL="0" indent="0">
              <a:buNone/>
            </a:pPr>
            <a:r>
              <a:rPr lang="en-US" sz="1100" dirty="0">
                <a:solidFill>
                  <a:srgbClr val="7A9BB8"/>
                </a:solidFill>
                <a:latin typeface="Calibri" pitchFamily="34" charset="0"/>
                <a:ea typeface="Calibri" pitchFamily="34" charset="-122"/>
                <a:cs typeface="Calibri" pitchFamily="34" charset="-120"/>
              </a:rPr>
              <a:t>Dashboard:  tableau.com  &gt;  ”The Bond Penalty: Same System, Different Outcome"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2015</Words>
  <Application>Microsoft Macintosh PowerPoint</Application>
  <PresentationFormat>On-screen Show (16:9)</PresentationFormat>
  <Paragraphs>158</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Bond Penalty - NSW Rental Crisis</dc:title>
  <dc:subject>PptxGenJS Presentation</dc:subject>
  <dc:creator>PptxGenJS</dc:creator>
  <cp:lastModifiedBy>Harsh Javia</cp:lastModifiedBy>
  <cp:revision>8</cp:revision>
  <dcterms:created xsi:type="dcterms:W3CDTF">2026-05-12T08:28:32Z</dcterms:created>
  <dcterms:modified xsi:type="dcterms:W3CDTF">2026-05-13T09:24:11Z</dcterms:modified>
</cp:coreProperties>
</file>